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4D6FC5-15E9-457F-8978-651FE5C5D58F}" v="1" dt="2026-10-21T16:32:10.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 userId="8eddc4f8-40a1-49ff-9eca-35f95811660b" providerId="ADAL" clId="{90CAD2EB-C547-42C3-9F1F-0B5E34014355}"/>
    <pc:docChg chg="undo custSel modSld">
      <pc:chgData name="Shan" userId="8eddc4f8-40a1-49ff-9eca-35f95811660b" providerId="ADAL" clId="{90CAD2EB-C547-42C3-9F1F-0B5E34014355}" dt="2026-10-21T16:59:12.704" v="22" actId="20577"/>
      <pc:docMkLst>
        <pc:docMk/>
      </pc:docMkLst>
      <pc:sldChg chg="addSp delSp modSp mod">
        <pc:chgData name="Shan" userId="8eddc4f8-40a1-49ff-9eca-35f95811660b" providerId="ADAL" clId="{90CAD2EB-C547-42C3-9F1F-0B5E34014355}" dt="2026-10-21T16:59:12.704" v="22" actId="20577"/>
        <pc:sldMkLst>
          <pc:docMk/>
          <pc:sldMk cId="0" sldId="260"/>
        </pc:sldMkLst>
        <pc:spChg chg="mod">
          <ac:chgData name="Shan" userId="8eddc4f8-40a1-49ff-9eca-35f95811660b" providerId="ADAL" clId="{90CAD2EB-C547-42C3-9F1F-0B5E34014355}" dt="2026-10-21T16:59:12.704" v="22" actId="20577"/>
          <ac:spMkLst>
            <pc:docMk/>
            <pc:sldMk cId="0" sldId="260"/>
            <ac:spMk id="2" creationId="{00000000-0000-0000-0000-000000000000}"/>
          </ac:spMkLst>
        </pc:spChg>
        <pc:spChg chg="del">
          <ac:chgData name="Shan" userId="8eddc4f8-40a1-49ff-9eca-35f95811660b" providerId="ADAL" clId="{90CAD2EB-C547-42C3-9F1F-0B5E34014355}" dt="2026-10-21T16:31:22.526" v="0" actId="478"/>
          <ac:spMkLst>
            <pc:docMk/>
            <pc:sldMk cId="0" sldId="260"/>
            <ac:spMk id="3" creationId="{00000000-0000-0000-0000-000000000000}"/>
          </ac:spMkLst>
        </pc:spChg>
        <pc:spChg chg="mod">
          <ac:chgData name="Shan" userId="8eddc4f8-40a1-49ff-9eca-35f95811660b" providerId="ADAL" clId="{90CAD2EB-C547-42C3-9F1F-0B5E34014355}" dt="2026-10-21T16:32:10.919" v="10" actId="164"/>
          <ac:spMkLst>
            <pc:docMk/>
            <pc:sldMk cId="0" sldId="260"/>
            <ac:spMk id="5" creationId="{00000000-0000-0000-0000-000000000000}"/>
          </ac:spMkLst>
        </pc:spChg>
        <pc:spChg chg="mod">
          <ac:chgData name="Shan" userId="8eddc4f8-40a1-49ff-9eca-35f95811660b" providerId="ADAL" clId="{90CAD2EB-C547-42C3-9F1F-0B5E34014355}" dt="2026-10-21T16:32:10.919" v="10" actId="164"/>
          <ac:spMkLst>
            <pc:docMk/>
            <pc:sldMk cId="0" sldId="260"/>
            <ac:spMk id="7" creationId="{00000000-0000-0000-0000-000000000000}"/>
          </ac:spMkLst>
        </pc:spChg>
        <pc:spChg chg="add del mod">
          <ac:chgData name="Shan" userId="8eddc4f8-40a1-49ff-9eca-35f95811660b" providerId="ADAL" clId="{90CAD2EB-C547-42C3-9F1F-0B5E34014355}" dt="2026-10-21T16:31:41.022" v="5" actId="478"/>
          <ac:spMkLst>
            <pc:docMk/>
            <pc:sldMk cId="0" sldId="260"/>
            <ac:spMk id="11" creationId="{A79637A5-DB8E-C717-908F-F79BCDF44654}"/>
          </ac:spMkLst>
        </pc:spChg>
        <pc:grpChg chg="add mod">
          <ac:chgData name="Shan" userId="8eddc4f8-40a1-49ff-9eca-35f95811660b" providerId="ADAL" clId="{90CAD2EB-C547-42C3-9F1F-0B5E34014355}" dt="2026-10-21T16:59:05.868" v="12" actId="1076"/>
          <ac:grpSpMkLst>
            <pc:docMk/>
            <pc:sldMk cId="0" sldId="260"/>
            <ac:grpSpMk id="12" creationId="{02CC949A-F025-BDE3-35E4-1AB388A675A6}"/>
          </ac:grpSpMkLst>
        </pc:grpChg>
        <pc:graphicFrameChg chg="del">
          <ac:chgData name="Shan" userId="8eddc4f8-40a1-49ff-9eca-35f95811660b" providerId="ADAL" clId="{90CAD2EB-C547-42C3-9F1F-0B5E34014355}" dt="2026-10-21T16:31:22.526" v="0" actId="478"/>
          <ac:graphicFrameMkLst>
            <pc:docMk/>
            <pc:sldMk cId="0" sldId="260"/>
            <ac:graphicFrameMk id="4" creationId="{00000000-0000-0000-0000-000000000000}"/>
          </ac:graphicFrameMkLst>
        </pc:graphicFrameChg>
        <pc:picChg chg="mod">
          <ac:chgData name="Shan" userId="8eddc4f8-40a1-49ff-9eca-35f95811660b" providerId="ADAL" clId="{90CAD2EB-C547-42C3-9F1F-0B5E34014355}" dt="2026-10-21T16:32:10.919" v="10" actId="164"/>
          <ac:picMkLst>
            <pc:docMk/>
            <pc:sldMk cId="0" sldId="260"/>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31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10 seconds. "We're SmartAg Ops Advisor. We help small farmers see which market actually leaves them the most money. We built it for any crop and piloted it with tomato around Oddanchatram." Before presenting: replace TEAM [00] with your team number and each [Name] with the BA, UI/UX, Dev and QA names.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seconds. Introduce Murugan, our working persona from MRD v3.1 (Grade C, built from local reporting and one interview). Keep the workaround honest: phone calls and WhatsApp rate photos are what farmers use today, and price tools such as KhetiTools and ACROP exist, but none tells him whether the batch covers its picking cost, per crate.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10 seconds. That insight is why we added the Harvest Cover Check. The empty API is why the app refuses to rank when the data is weak, and why the demo uses clearly labelled sample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seconds. Name the three Must-Haves from PRD v4.1 and the metric that proves them. Then the cut list: login, Tamil UI and chatbot are on our Won't list, along with forecasts, alerts, GPS and truck booking.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two minutes. Leave this slide up for a moment so judges see the order, then switch to the app. Dev drives, BA narrates. Run the rows in order using the seed data. If the live app fails, play SmartAg_demo_backup.mp4 straight away. Open the app 5 minutes early so the Neon database wakes 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seconds. Be specific and honest. Check these against your AI log and swap in your real prompt wording and tools before presenting. This slide feeds the AI collaboration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a:ln/>
        </p:spPr>
        <p:txBody>
          <a:bodyPr wrap="square" lIns="0" tIns="0" rIns="0" bIns="0" rtlCol="0" anchor="t"/>
          <a:lstStyle>
            <a:lvl1pPr marL="0" indent="0" algn="l">
              <a:lnSpc>
                <a:spcPct val="115000"/>
              </a:lnSpc>
              <a:buNone/>
              <a:defRPr lang="en-US" sz="3200" dirty="0">
                <a:solidFill>
                  <a:srgbClr val="17154A"/>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a:ln/>
        </p:spPr>
        <p:txBody>
          <a:bodyPr wrap="square" lIns="0" tIns="0" rIns="0" bIns="0" rtlCol="0" anchor="t"/>
          <a:lstStyle>
            <a:lvl1pPr marL="0" indent="0" algn="l">
              <a:lnSpc>
                <a:spcPct val="140000"/>
              </a:lnSpc>
              <a:buNone/>
              <a:defRPr lang="en-US" sz="1600" dirty="0">
                <a:solidFill>
                  <a:srgbClr val="17154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54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54A"/>
              </a:gs>
              <a:gs pos="60000">
                <a:srgbClr val="262381"/>
              </a:gs>
              <a:gs pos="100000">
                <a:srgbClr val="312F92"/>
              </a:gs>
            </a:gsLst>
            <a:lin ang="2700000" scaled="0"/>
          </a:gradFill>
          <a:ln/>
        </p:spPr>
        <p:txBody>
          <a:bodyPr/>
          <a:lstStyle/>
          <a:p>
            <a:r>
              <a:rPr lang="en-US"/>
              <a:t>ZZZZZSzzZzZZ</a:t>
            </a:r>
            <a:endParaRPr lang="en-IN"/>
          </a:p>
        </p:txBody>
      </p:sp>
      <p:sp>
        <p:nvSpPr>
          <p:cNvPr id="3" name="Shape 1"/>
          <p:cNvSpPr/>
          <p:nvPr/>
        </p:nvSpPr>
        <p:spPr>
          <a:xfrm>
            <a:off x="9017000" y="698500"/>
            <a:ext cx="2286000" cy="2286000"/>
          </a:xfrm>
          <a:prstGeom prst="roundRect">
            <a:avLst>
              <a:gd name="adj" fmla="val 50000"/>
            </a:avLst>
          </a:prstGeom>
          <a:gradFill rotWithShape="1">
            <a:gsLst>
              <a:gs pos="0">
                <a:srgbClr val="FFB066">
                  <a:alpha val="95000"/>
                </a:srgbClr>
              </a:gs>
              <a:gs pos="55000">
                <a:srgbClr val="F8821E">
                  <a:alpha val="95000"/>
                </a:srgbClr>
              </a:gs>
              <a:gs pos="100000">
                <a:srgbClr val="D9620A">
                  <a:alpha val="95000"/>
                </a:srgbClr>
              </a:gs>
            </a:gsLst>
            <a:path path="circle">
              <a:fillToRect l="35000" t="35000" r="65000" b="65000"/>
            </a:path>
          </a:gradFill>
          <a:ln/>
        </p:spPr>
        <p:txBody>
          <a:bodyPr/>
          <a:lstStyle/>
          <a:p>
            <a:endParaRPr lang="en-IN"/>
          </a:p>
        </p:txBody>
      </p:sp>
      <p:sp>
        <p:nvSpPr>
          <p:cNvPr id="4" name="Shape 2"/>
          <p:cNvSpPr/>
          <p:nvPr/>
        </p:nvSpPr>
        <p:spPr>
          <a:xfrm>
            <a:off x="812767" y="711150"/>
            <a:ext cx="2120801" cy="736534"/>
          </a:xfrm>
          <a:prstGeom prst="roundRect">
            <a:avLst>
              <a:gd name="adj" fmla="val 15519"/>
            </a:avLst>
          </a:prstGeom>
          <a:solidFill>
            <a:srgbClr val="FBF8F2"/>
          </a:solidFill>
          <a:ln/>
        </p:spPr>
        <p:txBody>
          <a:bodyPr/>
          <a:lstStyle/>
          <a:p>
            <a:endParaRPr lang="en-IN"/>
          </a:p>
        </p:txBody>
      </p:sp>
      <p:pic>
        <p:nvPicPr>
          <p:cNvPr id="5" name="Image 0" descr="JJ College of Engineering and Technology logo"/>
          <p:cNvPicPr>
            <a:picLocks noChangeAspect="1"/>
          </p:cNvPicPr>
          <p:nvPr/>
        </p:nvPicPr>
        <p:blipFill>
          <a:blip r:embed="rId3"/>
          <a:srcRect t="-283" b="-283"/>
          <a:stretch/>
        </p:blipFill>
        <p:spPr>
          <a:xfrm>
            <a:off x="952417" y="800034"/>
            <a:ext cx="1841500" cy="558767"/>
          </a:xfrm>
          <a:prstGeom prst="rect">
            <a:avLst/>
          </a:prstGeom>
        </p:spPr>
      </p:pic>
      <p:sp>
        <p:nvSpPr>
          <p:cNvPr id="6" name="Text 3"/>
          <p:cNvSpPr/>
          <p:nvPr/>
        </p:nvSpPr>
        <p:spPr>
          <a:xfrm>
            <a:off x="812767" y="2638309"/>
            <a:ext cx="7848600" cy="256497"/>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B066"/>
                </a:solidFill>
                <a:latin typeface="Arial" pitchFamily="34" charset="0"/>
                <a:ea typeface="Arial" pitchFamily="34" charset="-122"/>
                <a:cs typeface="Arial" pitchFamily="34" charset="-120"/>
              </a:rPr>
              <a:t>AI-PDLC HACKATHON · TEAM [00]</a:t>
            </a:r>
            <a:endParaRPr lang="en-US" sz="1300" dirty="0"/>
          </a:p>
        </p:txBody>
      </p:sp>
      <p:sp>
        <p:nvSpPr>
          <p:cNvPr id="7" name="Text 4"/>
          <p:cNvSpPr>
            <a:spLocks noGrp="1"/>
          </p:cNvSpPr>
          <p:nvPr>
            <p:ph type="title"/>
          </p:nvPr>
        </p:nvSpPr>
        <p:spPr>
          <a:xfrm>
            <a:off x="812767" y="2996406"/>
            <a:ext cx="7848600" cy="685783"/>
          </a:xfrm>
          <a:prstGeom prst="rect">
            <a:avLst/>
          </a:prstGeom>
          <a:noFill/>
          <a:ln/>
        </p:spPr>
        <p:txBody>
          <a:bodyPr wrap="square" lIns="0" tIns="0" rIns="0" bIns="0" rtlCol="0" anchor="t">
            <a:normAutofit/>
          </a:bodyPr>
          <a:lstStyle/>
          <a:p>
            <a:pPr marL="0" indent="0" algn="l">
              <a:lnSpc>
                <a:spcPts val="5200"/>
              </a:lnSpc>
              <a:buNone/>
            </a:pPr>
            <a:r>
              <a:rPr lang="en-US" sz="5200" b="1" i="0" dirty="0">
                <a:solidFill>
                  <a:srgbClr val="FBF8F2"/>
                </a:solidFill>
                <a:latin typeface="Arial" pitchFamily="34" charset="0"/>
                <a:ea typeface="Arial" pitchFamily="34" charset="-122"/>
                <a:cs typeface="Arial" pitchFamily="34" charset="-120"/>
              </a:rPr>
              <a:t>SmartAg Ops Advisor</a:t>
            </a:r>
            <a:endParaRPr lang="en-US" sz="5200" dirty="0"/>
          </a:p>
        </p:txBody>
      </p:sp>
      <p:sp>
        <p:nvSpPr>
          <p:cNvPr id="8" name="Text 5"/>
          <p:cNvSpPr/>
          <p:nvPr/>
        </p:nvSpPr>
        <p:spPr>
          <a:xfrm>
            <a:off x="812767" y="3783790"/>
            <a:ext cx="7848600" cy="68580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D6D3F0"/>
                </a:solidFill>
                <a:latin typeface="Arial" pitchFamily="34" charset="0"/>
                <a:ea typeface="Arial" pitchFamily="34" charset="-122"/>
                <a:cs typeface="Arial" pitchFamily="34" charset="-120"/>
              </a:rPr>
              <a:t>Shows small farmers which nearby market leaves them the most money after transport and selling costs, starting with tomato.</a:t>
            </a:r>
            <a:endParaRPr lang="en-US" sz="1700" dirty="0"/>
          </a:p>
        </p:txBody>
      </p:sp>
      <p:sp>
        <p:nvSpPr>
          <p:cNvPr id="9" name="Shape 6"/>
          <p:cNvSpPr/>
          <p:nvPr/>
        </p:nvSpPr>
        <p:spPr>
          <a:xfrm>
            <a:off x="812767" y="5265704"/>
            <a:ext cx="2546366" cy="779529"/>
          </a:xfrm>
          <a:prstGeom prst="roundRect">
            <a:avLst>
              <a:gd name="adj" fmla="val 16292"/>
            </a:avLst>
          </a:prstGeom>
          <a:solidFill>
            <a:srgbClr val="26235E"/>
          </a:solidFill>
          <a:ln/>
        </p:spPr>
        <p:txBody>
          <a:bodyPr/>
          <a:lstStyle/>
          <a:p>
            <a:endParaRPr lang="en-IN"/>
          </a:p>
        </p:txBody>
      </p:sp>
      <p:sp>
        <p:nvSpPr>
          <p:cNvPr id="10" name="Text 7"/>
          <p:cNvSpPr/>
          <p:nvPr/>
        </p:nvSpPr>
        <p:spPr>
          <a:xfrm>
            <a:off x="977801"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BA</a:t>
            </a:r>
            <a:endParaRPr lang="en-US" sz="1200" dirty="0"/>
          </a:p>
        </p:txBody>
      </p:sp>
      <p:sp>
        <p:nvSpPr>
          <p:cNvPr id="11" name="Text 8"/>
          <p:cNvSpPr/>
          <p:nvPr/>
        </p:nvSpPr>
        <p:spPr>
          <a:xfrm>
            <a:off x="977801"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HARISSH CHATHRIYA B</a:t>
            </a:r>
            <a:endParaRPr lang="en-US" sz="1400" dirty="0"/>
          </a:p>
        </p:txBody>
      </p:sp>
      <p:sp>
        <p:nvSpPr>
          <p:cNvPr id="12" name="Shape 9"/>
          <p:cNvSpPr/>
          <p:nvPr/>
        </p:nvSpPr>
        <p:spPr>
          <a:xfrm>
            <a:off x="3486133" y="5265704"/>
            <a:ext cx="2546366" cy="779529"/>
          </a:xfrm>
          <a:prstGeom prst="roundRect">
            <a:avLst>
              <a:gd name="adj" fmla="val 16292"/>
            </a:avLst>
          </a:prstGeom>
          <a:solidFill>
            <a:srgbClr val="26235E"/>
          </a:solidFill>
          <a:ln/>
        </p:spPr>
        <p:txBody>
          <a:bodyPr/>
          <a:lstStyle/>
          <a:p>
            <a:endParaRPr lang="en-IN"/>
          </a:p>
        </p:txBody>
      </p:sp>
      <p:sp>
        <p:nvSpPr>
          <p:cNvPr id="13" name="Text 10"/>
          <p:cNvSpPr/>
          <p:nvPr/>
        </p:nvSpPr>
        <p:spPr>
          <a:xfrm>
            <a:off x="3651167"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UI/UX</a:t>
            </a:r>
            <a:endParaRPr lang="en-US" sz="1200" dirty="0"/>
          </a:p>
        </p:txBody>
      </p:sp>
      <p:sp>
        <p:nvSpPr>
          <p:cNvPr id="14" name="Text 11"/>
          <p:cNvSpPr/>
          <p:nvPr/>
        </p:nvSpPr>
        <p:spPr>
          <a:xfrm>
            <a:off x="3651167" y="5656709"/>
            <a:ext cx="2282788" cy="274274"/>
          </a:xfrm>
          <a:prstGeom prst="rect">
            <a:avLst/>
          </a:prstGeom>
          <a:noFill/>
          <a:ln/>
        </p:spPr>
        <p:txBody>
          <a:bodyPr wrap="square" lIns="0" tIns="0" rIns="0" bIns="0" rtlCol="0" anchor="t">
            <a:normAutofit fontScale="77500" lnSpcReduction="20000"/>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SIR INDIRA PRIYADHARSHINI G</a:t>
            </a:r>
            <a:endParaRPr lang="en-US" sz="1400" dirty="0"/>
          </a:p>
        </p:txBody>
      </p:sp>
      <p:sp>
        <p:nvSpPr>
          <p:cNvPr id="15" name="Shape 12"/>
          <p:cNvSpPr/>
          <p:nvPr/>
        </p:nvSpPr>
        <p:spPr>
          <a:xfrm>
            <a:off x="6159500" y="5265704"/>
            <a:ext cx="2546366" cy="779529"/>
          </a:xfrm>
          <a:prstGeom prst="roundRect">
            <a:avLst>
              <a:gd name="adj" fmla="val 16292"/>
            </a:avLst>
          </a:prstGeom>
          <a:solidFill>
            <a:srgbClr val="26235E"/>
          </a:solidFill>
          <a:ln/>
        </p:spPr>
        <p:txBody>
          <a:bodyPr/>
          <a:lstStyle/>
          <a:p>
            <a:endParaRPr lang="en-IN"/>
          </a:p>
        </p:txBody>
      </p:sp>
      <p:sp>
        <p:nvSpPr>
          <p:cNvPr id="16" name="Text 13"/>
          <p:cNvSpPr/>
          <p:nvPr/>
        </p:nvSpPr>
        <p:spPr>
          <a:xfrm>
            <a:off x="6324534"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Dev</a:t>
            </a:r>
            <a:endParaRPr lang="en-US" sz="1200" dirty="0"/>
          </a:p>
        </p:txBody>
      </p:sp>
      <p:sp>
        <p:nvSpPr>
          <p:cNvPr id="17" name="Text 14"/>
          <p:cNvSpPr/>
          <p:nvPr/>
        </p:nvSpPr>
        <p:spPr>
          <a:xfrm>
            <a:off x="6324534"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BOOPATHI K</a:t>
            </a:r>
            <a:endParaRPr lang="en-US" sz="1400" dirty="0"/>
          </a:p>
        </p:txBody>
      </p:sp>
      <p:sp>
        <p:nvSpPr>
          <p:cNvPr id="18" name="Shape 15"/>
          <p:cNvSpPr/>
          <p:nvPr/>
        </p:nvSpPr>
        <p:spPr>
          <a:xfrm>
            <a:off x="8832866" y="5265704"/>
            <a:ext cx="2546366" cy="779529"/>
          </a:xfrm>
          <a:prstGeom prst="roundRect">
            <a:avLst>
              <a:gd name="adj" fmla="val 16292"/>
            </a:avLst>
          </a:prstGeom>
          <a:solidFill>
            <a:srgbClr val="26235E"/>
          </a:solidFill>
          <a:ln/>
        </p:spPr>
        <p:txBody>
          <a:bodyPr/>
          <a:lstStyle/>
          <a:p>
            <a:endParaRPr lang="en-IN"/>
          </a:p>
        </p:txBody>
      </p:sp>
      <p:sp>
        <p:nvSpPr>
          <p:cNvPr id="19" name="Text 16"/>
          <p:cNvSpPr/>
          <p:nvPr/>
        </p:nvSpPr>
        <p:spPr>
          <a:xfrm>
            <a:off x="8997900" y="5405355"/>
            <a:ext cx="22827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QA</a:t>
            </a:r>
            <a:endParaRPr lang="en-US" sz="1200" dirty="0"/>
          </a:p>
        </p:txBody>
      </p:sp>
      <p:sp>
        <p:nvSpPr>
          <p:cNvPr id="20" name="Text 17"/>
          <p:cNvSpPr/>
          <p:nvPr/>
        </p:nvSpPr>
        <p:spPr>
          <a:xfrm>
            <a:off x="8997900" y="5656709"/>
            <a:ext cx="2282788"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8F2"/>
                </a:solidFill>
                <a:latin typeface="Arial" pitchFamily="34" charset="0"/>
                <a:ea typeface="Arial" pitchFamily="34" charset="-122"/>
                <a:cs typeface="Arial" pitchFamily="34" charset="-120"/>
              </a:rPr>
              <a:t>HAJMAL IRFAN 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THE PROBLEM</a:t>
            </a:r>
            <a:endParaRPr lang="en-US" sz="1200" dirty="0"/>
          </a:p>
        </p:txBody>
      </p:sp>
      <p:sp>
        <p:nvSpPr>
          <p:cNvPr id="3" name="Text 1"/>
          <p:cNvSpPr>
            <a:spLocks noGrp="1"/>
          </p:cNvSpPr>
          <p:nvPr>
            <p:ph type="title"/>
          </p:nvPr>
        </p:nvSpPr>
        <p:spPr>
          <a:xfrm>
            <a:off x="812767" y="1102237"/>
            <a:ext cx="10883460" cy="548640"/>
          </a:xfrm>
          <a:prstGeom prst="rect">
            <a:avLst/>
          </a:prstGeom>
          <a:noFill/>
          <a:ln/>
        </p:spPr>
        <p:txBody>
          <a:bodyPr wrap="square" lIns="0" tIns="0" rIns="0" bIns="0" rtlCol="0" anchor="t">
            <a:no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Farmers can't tell which market pays after costs</a:t>
            </a:r>
            <a:endParaRPr lang="en-US" sz="3200" dirty="0"/>
          </a:p>
        </p:txBody>
      </p:sp>
      <p:sp>
        <p:nvSpPr>
          <p:cNvPr id="4" name="Shape 2"/>
          <p:cNvSpPr/>
          <p:nvPr/>
        </p:nvSpPr>
        <p:spPr>
          <a:xfrm>
            <a:off x="812767" y="1783080"/>
            <a:ext cx="3302000" cy="3840480"/>
          </a:xfrm>
          <a:prstGeom prst="roundRect">
            <a:avLst>
              <a:gd name="adj" fmla="val 6507"/>
            </a:avLst>
          </a:prstGeom>
          <a:solidFill>
            <a:srgbClr val="312F92"/>
          </a:solidFill>
          <a:ln/>
        </p:spPr>
        <p:txBody>
          <a:bodyPr/>
          <a:lstStyle/>
          <a:p>
            <a:endParaRPr lang="en-IN"/>
          </a:p>
        </p:txBody>
      </p:sp>
      <p:pic>
        <p:nvPicPr>
          <p:cNvPr id="5" name="Image 0" descr="Users"/>
          <p:cNvPicPr>
            <a:picLocks noChangeAspect="1"/>
          </p:cNvPicPr>
          <p:nvPr/>
        </p:nvPicPr>
        <p:blipFill>
          <a:blip r:embed="rId3"/>
          <a:srcRect/>
          <a:stretch/>
        </p:blipFill>
        <p:spPr>
          <a:xfrm>
            <a:off x="1041301" y="2011412"/>
            <a:ext cx="355534" cy="355534"/>
          </a:xfrm>
          <a:prstGeom prst="rect">
            <a:avLst/>
          </a:prstGeom>
        </p:spPr>
      </p:pic>
      <p:sp>
        <p:nvSpPr>
          <p:cNvPr id="6" name="Text 3"/>
          <p:cNvSpPr/>
          <p:nvPr/>
        </p:nvSpPr>
        <p:spPr>
          <a:xfrm>
            <a:off x="1041301" y="2455829"/>
            <a:ext cx="293028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B066"/>
                </a:solidFill>
                <a:latin typeface="Arial" pitchFamily="34" charset="0"/>
                <a:ea typeface="Arial" pitchFamily="34" charset="-122"/>
                <a:cs typeface="Arial" pitchFamily="34" charset="-120"/>
              </a:rPr>
              <a:t>PERSONA</a:t>
            </a:r>
            <a:endParaRPr lang="en-US" sz="1200" dirty="0"/>
          </a:p>
        </p:txBody>
      </p:sp>
      <p:sp>
        <p:nvSpPr>
          <p:cNvPr id="7" name="Text 4"/>
          <p:cNvSpPr/>
          <p:nvPr/>
        </p:nvSpPr>
        <p:spPr>
          <a:xfrm>
            <a:off x="1041301" y="2758033"/>
            <a:ext cx="2930280" cy="457200"/>
          </a:xfrm>
          <a:prstGeom prst="rect">
            <a:avLst/>
          </a:prstGeom>
          <a:noFill/>
          <a:ln/>
        </p:spPr>
        <p:txBody>
          <a:bodyPr wrap="square" lIns="0" tIns="0" rIns="0" bIns="0" rtlCol="0" anchor="t">
            <a:normAutofit/>
          </a:bodyPr>
          <a:lstStyle/>
          <a:p>
            <a:pPr marL="0" indent="0" algn="l">
              <a:buNone/>
            </a:pPr>
            <a:r>
              <a:rPr lang="en-US" sz="1800" b="1" dirty="0">
                <a:solidFill>
                  <a:srgbClr val="FBF8F2"/>
                </a:solidFill>
                <a:latin typeface="Arial" pitchFamily="34" charset="0"/>
                <a:ea typeface="Arial" pitchFamily="34" charset="-122"/>
                <a:cs typeface="Arial" pitchFamily="34" charset="-120"/>
              </a:rPr>
              <a:t>Murugan, tomato grower</a:t>
            </a:r>
            <a:endParaRPr lang="en-US" sz="2200" dirty="0"/>
          </a:p>
        </p:txBody>
      </p:sp>
      <p:sp>
        <p:nvSpPr>
          <p:cNvPr id="8" name="Text 5"/>
          <p:cNvSpPr/>
          <p:nvPr/>
        </p:nvSpPr>
        <p:spPr>
          <a:xfrm>
            <a:off x="1041301" y="3238004"/>
            <a:ext cx="2930280" cy="2514600"/>
          </a:xfrm>
          <a:prstGeom prst="rect">
            <a:avLst/>
          </a:prstGeom>
          <a:noFill/>
          <a:ln/>
        </p:spPr>
        <p:txBody>
          <a:bodyPr wrap="square" lIns="0" tIns="0" rIns="0" bIns="0" rtlCol="0" anchor="t">
            <a:normAutofit/>
          </a:bodyPr>
          <a:lstStyle/>
          <a:p>
            <a:pPr marL="0" indent="0" algn="l">
              <a:spcAft>
                <a:spcPts val="800"/>
              </a:spcAft>
              <a:buNone/>
            </a:pPr>
            <a:r>
              <a:rPr lang="en-US" sz="1300" dirty="0">
                <a:solidFill>
                  <a:srgbClr val="E1DFF5"/>
                </a:solidFill>
                <a:latin typeface="Arial" pitchFamily="34" charset="0"/>
                <a:ea typeface="Arial" pitchFamily="34" charset="-122"/>
                <a:cs typeface="Arial" pitchFamily="34" charset="-120"/>
              </a:rPr>
              <a:t>42, about 1.5 acres near Oddanchatram, Dindigul district.</a:t>
            </a:r>
            <a:endParaRPr lang="en-US" sz="1300" dirty="0"/>
          </a:p>
          <a:p>
            <a:pPr marL="0" indent="0" algn="l">
              <a:spcAft>
                <a:spcPts val="800"/>
              </a:spcAft>
              <a:buNone/>
            </a:pPr>
            <a:r>
              <a:rPr lang="en-US" sz="1300" dirty="0">
                <a:solidFill>
                  <a:srgbClr val="E1DFF5"/>
                </a:solidFill>
                <a:latin typeface="Arial" pitchFamily="34" charset="0"/>
                <a:ea typeface="Arial" pitchFamily="34" charset="-122"/>
                <a:cs typeface="Arial" pitchFamily="34" charset="-120"/>
              </a:rPr>
              <a:t>Sells 40–60 crates (14 kg) per harvest on a basic Android phone; prefers Tamil.</a:t>
            </a:r>
            <a:endParaRPr lang="en-US" sz="1300" dirty="0"/>
          </a:p>
          <a:p>
            <a:pPr marL="0" indent="0" algn="l">
              <a:spcAft>
                <a:spcPts val="800"/>
              </a:spcAft>
              <a:buNone/>
            </a:pPr>
            <a:r>
              <a:rPr lang="en-US" sz="1300" dirty="0">
                <a:solidFill>
                  <a:srgbClr val="E1DFF5"/>
                </a:solidFill>
                <a:latin typeface="Arial" pitchFamily="34" charset="0"/>
                <a:ea typeface="Arial" pitchFamily="34" charset="-122"/>
                <a:cs typeface="Arial" pitchFamily="34" charset="-120"/>
              </a:rPr>
              <a:t>In March he paid Rs 80 a crate to pick a batch that sold for about Rs 120 a crate.</a:t>
            </a:r>
            <a:endParaRPr lang="en-US" sz="1300" dirty="0"/>
          </a:p>
          <a:p>
            <a:pPr marL="0" indent="0" algn="l">
              <a:spcAft>
                <a:spcPts val="800"/>
              </a:spcAft>
              <a:buNone/>
            </a:pPr>
            <a:r>
              <a:rPr lang="en-US" sz="1100" i="1" dirty="0">
                <a:solidFill>
                  <a:srgbClr val="E1DFF5"/>
                </a:solidFill>
                <a:latin typeface="Arial" pitchFamily="34" charset="0"/>
                <a:ea typeface="Arial" pitchFamily="34" charset="-122"/>
                <a:cs typeface="Arial" pitchFamily="34" charset="-120"/>
              </a:rPr>
              <a:t>Working persona (Grade C), to validate in interviews</a:t>
            </a:r>
            <a:endParaRPr lang="en-US" sz="1300" dirty="0"/>
          </a:p>
        </p:txBody>
      </p:sp>
      <p:sp>
        <p:nvSpPr>
          <p:cNvPr id="9" name="Shape 6"/>
          <p:cNvSpPr/>
          <p:nvPr/>
        </p:nvSpPr>
        <p:spPr>
          <a:xfrm>
            <a:off x="4324267" y="1783080"/>
            <a:ext cx="7048615" cy="1051560"/>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0" name="Text 7"/>
          <p:cNvSpPr/>
          <p:nvPr/>
        </p:nvSpPr>
        <p:spPr>
          <a:xfrm>
            <a:off x="4506268" y="1938528"/>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1</a:t>
            </a:r>
            <a:endParaRPr lang="en-US" sz="1200" dirty="0"/>
          </a:p>
        </p:txBody>
      </p:sp>
      <p:sp>
        <p:nvSpPr>
          <p:cNvPr id="11" name="Text 8"/>
          <p:cNvSpPr/>
          <p:nvPr/>
        </p:nvSpPr>
        <p:spPr>
          <a:xfrm>
            <a:off x="4506268" y="2194560"/>
            <a:ext cx="6885154" cy="54863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“The other market quotes more, but I don't know if it's worth the lorry.”</a:t>
            </a:r>
            <a:endParaRPr lang="en-US" sz="1400" dirty="0"/>
          </a:p>
        </p:txBody>
      </p:sp>
      <p:sp>
        <p:nvSpPr>
          <p:cNvPr id="12" name="Shape 9"/>
          <p:cNvSpPr/>
          <p:nvPr/>
        </p:nvSpPr>
        <p:spPr>
          <a:xfrm>
            <a:off x="4324267" y="2971800"/>
            <a:ext cx="7048615" cy="1051560"/>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3" name="Text 10"/>
          <p:cNvSpPr/>
          <p:nvPr/>
        </p:nvSpPr>
        <p:spPr>
          <a:xfrm>
            <a:off x="4506268" y="3127248"/>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Pain point 2</a:t>
            </a:r>
            <a:endParaRPr lang="en-US" sz="1200" dirty="0"/>
          </a:p>
        </p:txBody>
      </p:sp>
      <p:sp>
        <p:nvSpPr>
          <p:cNvPr id="14" name="Text 11"/>
          <p:cNvSpPr/>
          <p:nvPr/>
        </p:nvSpPr>
        <p:spPr>
          <a:xfrm>
            <a:off x="4506268" y="3383280"/>
            <a:ext cx="6885154" cy="54863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Picking (Rs 80 a crate) and transport are paid before he knows the final price. One bad call wipes out a week's margin.</a:t>
            </a:r>
            <a:endParaRPr lang="en-US" sz="1400" dirty="0"/>
          </a:p>
        </p:txBody>
      </p:sp>
      <p:sp>
        <p:nvSpPr>
          <p:cNvPr id="15" name="Shape 12"/>
          <p:cNvSpPr/>
          <p:nvPr/>
        </p:nvSpPr>
        <p:spPr>
          <a:xfrm>
            <a:off x="4324267" y="4160520"/>
            <a:ext cx="7048615" cy="1463040"/>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6" name="Text 13"/>
          <p:cNvSpPr/>
          <p:nvPr/>
        </p:nvSpPr>
        <p:spPr>
          <a:xfrm>
            <a:off x="4506268" y="4315968"/>
            <a:ext cx="68851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3E05"/>
                </a:solidFill>
                <a:latin typeface="Arial" pitchFamily="34" charset="0"/>
                <a:ea typeface="Arial" pitchFamily="34" charset="-122"/>
                <a:cs typeface="Arial" pitchFamily="34" charset="-120"/>
              </a:rPr>
              <a:t>What they do today</a:t>
            </a:r>
            <a:endParaRPr lang="en-US" sz="1200" dirty="0"/>
          </a:p>
        </p:txBody>
      </p:sp>
      <p:sp>
        <p:nvSpPr>
          <p:cNvPr id="17" name="Text 14"/>
          <p:cNvSpPr/>
          <p:nvPr/>
        </p:nvSpPr>
        <p:spPr>
          <a:xfrm>
            <a:off x="4506268" y="4572000"/>
            <a:ext cx="6885154" cy="9601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154A"/>
                </a:solidFill>
                <a:latin typeface="Arial" pitchFamily="34" charset="0"/>
                <a:ea typeface="Arial" pitchFamily="34" charset="-122"/>
                <a:cs typeface="Arial" pitchFamily="34" charset="-120"/>
              </a:rPr>
              <a:t>Calls two traders or a driver and checks WhatsApp rate photos: prices are undated, in mixed units and never net of costs. Apps like KhetiTools and ACROP show prices or freight, but not whether a batch covers its picking cost.</a:t>
            </a:r>
            <a:endParaRPr lang="en-US" sz="1400" dirty="0"/>
          </a:p>
        </p:txBody>
      </p:sp>
      <p:sp>
        <p:nvSpPr>
          <p:cNvPr id="18" name="Text 15"/>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SmartAg Ops Advisor · JJCET AI-PDLC Hackathon</a:t>
            </a:r>
            <a:endParaRPr lang="en-US" sz="1200" dirty="0"/>
          </a:p>
        </p:txBody>
      </p:sp>
      <p:sp>
        <p:nvSpPr>
          <p:cNvPr id="19" name="Text 16"/>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821E"/>
        </a:solidFill>
        <a:effectLst/>
      </p:bgPr>
    </p:bg>
    <p:spTree>
      <p:nvGrpSpPr>
        <p:cNvPr id="1" name=""/>
        <p:cNvGrpSpPr/>
        <p:nvPr/>
      </p:nvGrpSpPr>
      <p:grpSpPr>
        <a:xfrm>
          <a:off x="0" y="0"/>
          <a:ext cx="0" cy="0"/>
          <a:chOff x="0" y="0"/>
          <a:chExt cx="0" cy="0"/>
        </a:xfrm>
      </p:grpSpPr>
      <p:sp>
        <p:nvSpPr>
          <p:cNvPr id="2" name="Text 0"/>
          <p:cNvSpPr/>
          <p:nvPr/>
        </p:nvSpPr>
        <p:spPr>
          <a:xfrm>
            <a:off x="812767" y="1234440"/>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154A"/>
                </a:solidFill>
                <a:latin typeface="Arial" pitchFamily="34" charset="0"/>
                <a:ea typeface="Arial" pitchFamily="34" charset="-122"/>
                <a:cs typeface="Arial" pitchFamily="34" charset="-120"/>
              </a:rPr>
              <a:t>WHAT OUR MRD TAUGHT US</a:t>
            </a:r>
            <a:endParaRPr lang="en-US" sz="1200" dirty="0"/>
          </a:p>
        </p:txBody>
      </p:sp>
      <p:sp>
        <p:nvSpPr>
          <p:cNvPr id="3" name="Text 1"/>
          <p:cNvSpPr>
            <a:spLocks noGrp="1"/>
          </p:cNvSpPr>
          <p:nvPr>
            <p:ph type="title"/>
          </p:nvPr>
        </p:nvSpPr>
        <p:spPr>
          <a:xfrm>
            <a:off x="812767" y="1600200"/>
            <a:ext cx="10561320" cy="2011680"/>
          </a:xfrm>
          <a:prstGeom prst="rect">
            <a:avLst/>
          </a:prstGeom>
          <a:noFill/>
          <a:ln/>
        </p:spPr>
        <p:txBody>
          <a:bodyPr wrap="square" lIns="0" tIns="0" rIns="0" bIns="0" rtlCol="0" anchor="t">
            <a:normAutofit/>
          </a:bodyPr>
          <a:lstStyle/>
          <a:p>
            <a:pPr marL="0" indent="0" algn="l">
              <a:buNone/>
            </a:pPr>
            <a:r>
              <a:rPr lang="en-US" sz="3400" b="1" i="0" dirty="0">
                <a:solidFill>
                  <a:srgbClr val="17154A"/>
                </a:solidFill>
                <a:latin typeface="Arial" pitchFamily="34" charset="0"/>
                <a:ea typeface="Arial" pitchFamily="34" charset="-122"/>
                <a:cs typeface="Arial" pitchFamily="34" charset="-120"/>
              </a:rPr>
              <a:t>“The farmer's real question isn't ‘which market pays most?’ but ‘will any market cover the cost of picking this batch?’”</a:t>
            </a:r>
            <a:endParaRPr lang="en-US" sz="4000" dirty="0"/>
          </a:p>
        </p:txBody>
      </p:sp>
      <p:sp>
        <p:nvSpPr>
          <p:cNvPr id="4" name="Shape 2"/>
          <p:cNvSpPr/>
          <p:nvPr/>
        </p:nvSpPr>
        <p:spPr>
          <a:xfrm>
            <a:off x="812767" y="3931920"/>
            <a:ext cx="5207000" cy="1645920"/>
          </a:xfrm>
          <a:prstGeom prst="roundRect">
            <a:avLst>
              <a:gd name="adj" fmla="val 16133"/>
            </a:avLst>
          </a:prstGeom>
          <a:solidFill>
            <a:srgbClr val="17154A"/>
          </a:solidFill>
          <a:ln/>
        </p:spPr>
        <p:txBody>
          <a:bodyPr/>
          <a:lstStyle/>
          <a:p>
            <a:endParaRPr lang="en-IN"/>
          </a:p>
        </p:txBody>
      </p:sp>
      <p:sp>
        <p:nvSpPr>
          <p:cNvPr id="5" name="Text 3"/>
          <p:cNvSpPr/>
          <p:nvPr/>
        </p:nvSpPr>
        <p:spPr>
          <a:xfrm>
            <a:off x="990534" y="4087368"/>
            <a:ext cx="49970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Evidence</a:t>
            </a:r>
            <a:endParaRPr lang="en-US" sz="1200" dirty="0"/>
          </a:p>
        </p:txBody>
      </p:sp>
      <p:sp>
        <p:nvSpPr>
          <p:cNvPr id="6" name="Text 4"/>
          <p:cNvSpPr/>
          <p:nvPr/>
        </p:nvSpPr>
        <p:spPr>
          <a:xfrm>
            <a:off x="990534" y="4361688"/>
            <a:ext cx="4997010" cy="1371600"/>
          </a:xfrm>
          <a:prstGeom prst="rect">
            <a:avLst/>
          </a:prstGeom>
          <a:noFill/>
          <a:ln/>
        </p:spPr>
        <p:txBody>
          <a:bodyPr wrap="square" lIns="0" tIns="0" rIns="0" bIns="0" rtlCol="0" anchor="t">
            <a:normAutofit/>
          </a:bodyPr>
          <a:lstStyle/>
          <a:p>
            <a:pPr marL="0" indent="0" algn="l">
              <a:spcAft>
                <a:spcPts val="600"/>
              </a:spcAft>
              <a:buNone/>
            </a:pPr>
            <a:r>
              <a:rPr lang="en-US" sz="1300" dirty="0">
                <a:solidFill>
                  <a:srgbClr val="FBF8F2"/>
                </a:solidFill>
                <a:latin typeface="Arial" pitchFamily="34" charset="0"/>
                <a:ea typeface="Arial" pitchFamily="34" charset="-122"/>
                <a:cs typeface="Arial" pitchFamily="34" charset="-120"/>
              </a:rPr>
              <a:t>Dindigul, March 2026: a 14 kg box fell to Rs 100–150 against about Rs 80 picking labour, and farmers stopped harvesting (New Indian Express / IANS, Grade B).</a:t>
            </a:r>
            <a:endParaRPr lang="en-US" sz="1300" dirty="0"/>
          </a:p>
          <a:p>
            <a:pPr marL="0" indent="0" algn="l">
              <a:spcAft>
                <a:spcPts val="600"/>
              </a:spcAft>
              <a:buNone/>
            </a:pPr>
            <a:r>
              <a:rPr lang="en-US" sz="1300" dirty="0">
                <a:solidFill>
                  <a:srgbClr val="FBF8F2"/>
                </a:solidFill>
                <a:latin typeface="Arial" pitchFamily="34" charset="0"/>
                <a:ea typeface="Arial" pitchFamily="34" charset="-122"/>
                <a:cs typeface="Arial" pitchFamily="34" charset="-120"/>
              </a:rPr>
              <a:t>Our data audit: the government price API returned no valid rows, and our data had no Dindigul market.</a:t>
            </a:r>
            <a:endParaRPr lang="en-US" sz="1300" dirty="0"/>
          </a:p>
        </p:txBody>
      </p:sp>
      <p:sp>
        <p:nvSpPr>
          <p:cNvPr id="7" name="Shape 5"/>
          <p:cNvSpPr/>
          <p:nvPr/>
        </p:nvSpPr>
        <p:spPr>
          <a:xfrm>
            <a:off x="6172150" y="3931920"/>
            <a:ext cx="5207083" cy="1645920"/>
          </a:xfrm>
          <a:prstGeom prst="roundRect">
            <a:avLst>
              <a:gd name="adj" fmla="val 16133"/>
            </a:avLst>
          </a:prstGeom>
          <a:solidFill>
            <a:srgbClr val="17154A"/>
          </a:solidFill>
          <a:ln/>
        </p:spPr>
        <p:txBody>
          <a:bodyPr/>
          <a:lstStyle/>
          <a:p>
            <a:endParaRPr lang="en-IN"/>
          </a:p>
        </p:txBody>
      </p:sp>
      <p:sp>
        <p:nvSpPr>
          <p:cNvPr id="8" name="Text 6"/>
          <p:cNvSpPr/>
          <p:nvPr/>
        </p:nvSpPr>
        <p:spPr>
          <a:xfrm>
            <a:off x="6349917" y="4087368"/>
            <a:ext cx="4997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8821E"/>
                </a:solidFill>
                <a:latin typeface="Arial" pitchFamily="34" charset="0"/>
                <a:ea typeface="Arial" pitchFamily="34" charset="-122"/>
                <a:cs typeface="Arial" pitchFamily="34" charset="-120"/>
              </a:rPr>
              <a:t>Assumption</a:t>
            </a:r>
            <a:endParaRPr lang="en-US" sz="1200" dirty="0"/>
          </a:p>
        </p:txBody>
      </p:sp>
      <p:sp>
        <p:nvSpPr>
          <p:cNvPr id="9" name="Text 7"/>
          <p:cNvSpPr/>
          <p:nvPr/>
        </p:nvSpPr>
        <p:spPr>
          <a:xfrm>
            <a:off x="6349917" y="4361688"/>
            <a:ext cx="4997095" cy="1371600"/>
          </a:xfrm>
          <a:prstGeom prst="rect">
            <a:avLst/>
          </a:prstGeom>
          <a:noFill/>
          <a:ln/>
        </p:spPr>
        <p:txBody>
          <a:bodyPr wrap="square" lIns="0" tIns="0" rIns="0" bIns="0" rtlCol="0" anchor="t">
            <a:normAutofit/>
          </a:bodyPr>
          <a:lstStyle/>
          <a:p>
            <a:pPr marL="0" indent="0" algn="l">
              <a:spcAft>
                <a:spcPts val="600"/>
              </a:spcAft>
              <a:buNone/>
            </a:pPr>
            <a:r>
              <a:rPr lang="en-US" sz="1300" dirty="0">
                <a:solidFill>
                  <a:srgbClr val="FBF8F2"/>
                </a:solidFill>
                <a:latin typeface="Arial" pitchFamily="34" charset="0"/>
                <a:ea typeface="Arial" pitchFamily="34" charset="-122"/>
                <a:cs typeface="Arial" pitchFamily="34" charset="-120"/>
              </a:rPr>
              <a:t>Farmers can switch markets and will trust a per-crate answer from an app.</a:t>
            </a:r>
            <a:endParaRPr lang="en-US" sz="1300" dirty="0"/>
          </a:p>
          <a:p>
            <a:pPr marL="0" indent="0" algn="l">
              <a:spcAft>
                <a:spcPts val="600"/>
              </a:spcAft>
              <a:buNone/>
            </a:pPr>
            <a:r>
              <a:rPr lang="en-US" sz="1300" dirty="0">
                <a:solidFill>
                  <a:srgbClr val="FBF8F2"/>
                </a:solidFill>
                <a:latin typeface="Arial" pitchFamily="34" charset="0"/>
                <a:ea typeface="Arial" pitchFamily="34" charset="-122"/>
                <a:cs typeface="Arial" pitchFamily="34" charset="-120"/>
              </a:rPr>
              <a:t>Based on one interview so far (Grade C). We plan 5 farmer interviews before a pilot.</a:t>
            </a:r>
            <a:endParaRPr lang="en-US" sz="1300" dirty="0"/>
          </a:p>
        </p:txBody>
      </p:sp>
      <p:sp>
        <p:nvSpPr>
          <p:cNvPr id="10" name="Text 8"/>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1A08"/>
                </a:solidFill>
                <a:latin typeface="Arial" pitchFamily="34" charset="0"/>
                <a:ea typeface="Arial" pitchFamily="34" charset="-122"/>
                <a:cs typeface="Arial" pitchFamily="34" charset="-120"/>
              </a:rPr>
              <a:t>SmartAg Ops Advisor · JJCET AI-PDLC Hackathon</a:t>
            </a:r>
            <a:endParaRPr lang="en-US" sz="1200" dirty="0"/>
          </a:p>
        </p:txBody>
      </p:sp>
      <p:sp>
        <p:nvSpPr>
          <p:cNvPr id="11" name="Text 9"/>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B1A08"/>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PRODUCT DECISIONS</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we built, and what we cut</a:t>
            </a:r>
            <a:endParaRPr lang="en-US" sz="3200" dirty="0"/>
          </a:p>
        </p:txBody>
      </p:sp>
      <p:sp>
        <p:nvSpPr>
          <p:cNvPr id="4" name="Shape 2"/>
          <p:cNvSpPr/>
          <p:nvPr/>
        </p:nvSpPr>
        <p:spPr>
          <a:xfrm>
            <a:off x="812767" y="1782877"/>
            <a:ext cx="5171033" cy="3977639"/>
          </a:xfrm>
          <a:prstGeom prst="roundRect">
            <a:avLst>
              <a:gd name="adj" fmla="val 8555"/>
            </a:avLst>
          </a:prstGeom>
          <a:solidFill>
            <a:srgbClr val="312F92"/>
          </a:solidFill>
          <a:ln/>
        </p:spPr>
        <p:txBody>
          <a:bodyPr/>
          <a:lstStyle/>
          <a:p>
            <a:endParaRPr lang="en-IN"/>
          </a:p>
        </p:txBody>
      </p:sp>
      <p:sp>
        <p:nvSpPr>
          <p:cNvPr id="5" name="Text 3"/>
          <p:cNvSpPr/>
          <p:nvPr/>
        </p:nvSpPr>
        <p:spPr>
          <a:xfrm>
            <a:off x="1041301" y="2011412"/>
            <a:ext cx="4855384"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FB066"/>
                </a:solidFill>
                <a:latin typeface="Arial" pitchFamily="34" charset="0"/>
                <a:ea typeface="Arial" pitchFamily="34" charset="-122"/>
                <a:cs typeface="Arial" pitchFamily="34" charset="-120"/>
              </a:rPr>
              <a:t>MUST-HAVE · BUILT</a:t>
            </a:r>
            <a:endParaRPr lang="en-US" sz="1300" dirty="0"/>
          </a:p>
        </p:txBody>
      </p:sp>
      <p:pic>
        <p:nvPicPr>
          <p:cNvPr id="6" name="Image 0" descr="CheckCircle"/>
          <p:cNvPicPr>
            <a:picLocks noChangeAspect="1"/>
          </p:cNvPicPr>
          <p:nvPr/>
        </p:nvPicPr>
        <p:blipFill>
          <a:blip r:embed="rId3"/>
          <a:srcRect/>
          <a:stretch/>
        </p:blipFill>
        <p:spPr>
          <a:xfrm>
            <a:off x="1041301" y="2414016"/>
            <a:ext cx="228534" cy="228534"/>
          </a:xfrm>
          <a:prstGeom prst="rect">
            <a:avLst/>
          </a:prstGeom>
        </p:spPr>
      </p:pic>
      <p:sp>
        <p:nvSpPr>
          <p:cNvPr id="7" name="Text 4"/>
          <p:cNvSpPr/>
          <p:nvPr/>
        </p:nvSpPr>
        <p:spPr>
          <a:xfrm>
            <a:off x="1371368" y="2395728"/>
            <a:ext cx="4515414" cy="868680"/>
          </a:xfrm>
          <a:prstGeom prst="rect">
            <a:avLst/>
          </a:prstGeom>
          <a:noFill/>
          <a:ln/>
        </p:spPr>
        <p:txBody>
          <a:bodyPr wrap="square" lIns="0" tIns="0" rIns="0" bIns="0" rtlCol="0" anchor="t">
            <a:normAutofit/>
          </a:bodyPr>
          <a:lstStyle/>
          <a:p>
            <a:pPr marL="0" indent="0" algn="l">
              <a:spcAft>
                <a:spcPts val="300"/>
              </a:spcAft>
              <a:buNone/>
            </a:pPr>
            <a:r>
              <a:rPr lang="en-US" sz="1300" b="1" dirty="0">
                <a:solidFill>
                  <a:srgbClr val="FBF8F2"/>
                </a:solidFill>
                <a:latin typeface="Arial" pitchFamily="34" charset="0"/>
                <a:ea typeface="Arial" pitchFamily="34" charset="-122"/>
                <a:cs typeface="Arial" pitchFamily="34" charset="-120"/>
              </a:rPr>
              <a:t>Trustworthy price view</a:t>
            </a:r>
            <a:endParaRPr lang="en-US" sz="1400" dirty="0"/>
          </a:p>
          <a:p>
            <a:pPr marL="0" indent="0" algn="l">
              <a:spcAft>
                <a:spcPts val="300"/>
              </a:spcAft>
              <a:buNone/>
            </a:pPr>
            <a:r>
              <a:rPr lang="en-US" sz="1300" b="0" dirty="0">
                <a:solidFill>
                  <a:srgbClr val="FBF8F2"/>
                </a:solidFill>
                <a:latin typeface="Arial" pitchFamily="34" charset="0"/>
                <a:ea typeface="Arial" pitchFamily="34" charset="-122"/>
                <a:cs typeface="Arial" pitchFamily="34" charset="-120"/>
              </a:rPr>
              <a:t>Source, date, unit and market type on every price; converted to Rs/kg and Rs/crate</a:t>
            </a:r>
            <a:endParaRPr lang="en-US" sz="1400" dirty="0"/>
          </a:p>
        </p:txBody>
      </p:sp>
      <p:pic>
        <p:nvPicPr>
          <p:cNvPr id="8" name="Image 1" descr="CheckCircle"/>
          <p:cNvPicPr>
            <a:picLocks noChangeAspect="1"/>
          </p:cNvPicPr>
          <p:nvPr/>
        </p:nvPicPr>
        <p:blipFill>
          <a:blip r:embed="rId3"/>
          <a:srcRect/>
          <a:stretch/>
        </p:blipFill>
        <p:spPr>
          <a:xfrm>
            <a:off x="1041301" y="3374136"/>
            <a:ext cx="228534" cy="228534"/>
          </a:xfrm>
          <a:prstGeom prst="rect">
            <a:avLst/>
          </a:prstGeom>
        </p:spPr>
      </p:pic>
      <p:sp>
        <p:nvSpPr>
          <p:cNvPr id="9" name="Text 5"/>
          <p:cNvSpPr/>
          <p:nvPr/>
        </p:nvSpPr>
        <p:spPr>
          <a:xfrm>
            <a:off x="1371368" y="3355848"/>
            <a:ext cx="4515414" cy="868680"/>
          </a:xfrm>
          <a:prstGeom prst="rect">
            <a:avLst/>
          </a:prstGeom>
          <a:noFill/>
          <a:ln/>
        </p:spPr>
        <p:txBody>
          <a:bodyPr wrap="square" lIns="0" tIns="0" rIns="0" bIns="0" rtlCol="0" anchor="t">
            <a:normAutofit/>
          </a:bodyPr>
          <a:lstStyle/>
          <a:p>
            <a:pPr marL="0" indent="0" algn="l">
              <a:spcAft>
                <a:spcPts val="300"/>
              </a:spcAft>
              <a:buNone/>
            </a:pPr>
            <a:r>
              <a:rPr lang="en-US" sz="1300" b="1" dirty="0">
                <a:solidFill>
                  <a:srgbClr val="FBF8F2"/>
                </a:solidFill>
                <a:latin typeface="Arial" pitchFamily="34" charset="0"/>
                <a:ea typeface="Arial" pitchFamily="34" charset="-122"/>
                <a:cs typeface="Arial" pitchFamily="34" charset="-120"/>
              </a:rPr>
              <a:t>Estimate after costs + Harvest Cover Check</a:t>
            </a:r>
            <a:endParaRPr lang="en-US" sz="1400" dirty="0"/>
          </a:p>
          <a:p>
            <a:pPr marL="0" indent="0" algn="l">
              <a:spcAft>
                <a:spcPts val="300"/>
              </a:spcAft>
              <a:buNone/>
            </a:pPr>
            <a:r>
              <a:rPr lang="en-US" sz="1300" b="0" dirty="0">
                <a:solidFill>
                  <a:srgbClr val="FBF8F2"/>
                </a:solidFill>
                <a:latin typeface="Arial" pitchFamily="34" charset="0"/>
                <a:ea typeface="Arial" pitchFamily="34" charset="-122"/>
                <a:cs typeface="Arial" pitchFamily="34" charset="-120"/>
              </a:rPr>
              <a:t>Transport, commission and picking subtracted; money left per crate and break-even crate price</a:t>
            </a:r>
            <a:endParaRPr lang="en-US" sz="1400" dirty="0"/>
          </a:p>
        </p:txBody>
      </p:sp>
      <p:pic>
        <p:nvPicPr>
          <p:cNvPr id="10" name="Image 2" descr="CheckCircle"/>
          <p:cNvPicPr>
            <a:picLocks noChangeAspect="1"/>
          </p:cNvPicPr>
          <p:nvPr/>
        </p:nvPicPr>
        <p:blipFill>
          <a:blip r:embed="rId3"/>
          <a:srcRect/>
          <a:stretch/>
        </p:blipFill>
        <p:spPr>
          <a:xfrm>
            <a:off x="1041301" y="4334255"/>
            <a:ext cx="228534" cy="228534"/>
          </a:xfrm>
          <a:prstGeom prst="rect">
            <a:avLst/>
          </a:prstGeom>
        </p:spPr>
      </p:pic>
      <p:sp>
        <p:nvSpPr>
          <p:cNvPr id="11" name="Text 6"/>
          <p:cNvSpPr/>
          <p:nvPr/>
        </p:nvSpPr>
        <p:spPr>
          <a:xfrm>
            <a:off x="1371368" y="4315968"/>
            <a:ext cx="4515414" cy="868680"/>
          </a:xfrm>
          <a:prstGeom prst="rect">
            <a:avLst/>
          </a:prstGeom>
          <a:noFill/>
          <a:ln/>
        </p:spPr>
        <p:txBody>
          <a:bodyPr wrap="square" lIns="0" tIns="0" rIns="0" bIns="0" rtlCol="0" anchor="t">
            <a:normAutofit/>
          </a:bodyPr>
          <a:lstStyle/>
          <a:p>
            <a:pPr marL="0" indent="0" algn="l">
              <a:spcAft>
                <a:spcPts val="300"/>
              </a:spcAft>
              <a:buNone/>
            </a:pPr>
            <a:r>
              <a:rPr lang="en-US" sz="1300" b="1" dirty="0">
                <a:solidFill>
                  <a:srgbClr val="FBF8F2"/>
                </a:solidFill>
                <a:latin typeface="Arial" pitchFamily="34" charset="0"/>
                <a:ea typeface="Arial" pitchFamily="34" charset="-122"/>
                <a:cs typeface="Arial" pitchFamily="34" charset="-120"/>
              </a:rPr>
              <a:t>Honest ranking</a:t>
            </a:r>
            <a:endParaRPr lang="en-US" sz="1400" dirty="0"/>
          </a:p>
          <a:p>
            <a:pPr marL="0" indent="0" algn="l">
              <a:spcAft>
                <a:spcPts val="300"/>
              </a:spcAft>
              <a:buNone/>
            </a:pPr>
            <a:r>
              <a:rPr lang="en-US" sz="1300" b="0" dirty="0">
                <a:solidFill>
                  <a:srgbClr val="FBF8F2"/>
                </a:solidFill>
                <a:latin typeface="Arial" pitchFamily="34" charset="0"/>
                <a:ea typeface="Arial" pitchFamily="34" charset="-122"/>
                <a:cs typeface="Arial" pitchFamily="34" charset="-120"/>
              </a:rPr>
              <a:t>Names a winner only when data passes every check; otherwise “too close” or “ranking unavailable” with the reason</a:t>
            </a:r>
            <a:endParaRPr lang="en-US" sz="1400" dirty="0"/>
          </a:p>
        </p:txBody>
      </p:sp>
      <p:sp>
        <p:nvSpPr>
          <p:cNvPr id="12" name="Text 7"/>
          <p:cNvSpPr/>
          <p:nvPr/>
        </p:nvSpPr>
        <p:spPr>
          <a:xfrm>
            <a:off x="1041301" y="5230368"/>
            <a:ext cx="4855384" cy="457200"/>
          </a:xfrm>
          <a:prstGeom prst="rect">
            <a:avLst/>
          </a:prstGeom>
          <a:noFill/>
          <a:ln/>
        </p:spPr>
        <p:txBody>
          <a:bodyPr wrap="square" lIns="0" tIns="0" rIns="0" bIns="0" rtlCol="0" anchor="t">
            <a:normAutofit/>
          </a:bodyPr>
          <a:lstStyle/>
          <a:p>
            <a:pPr marL="0" indent="0" algn="l">
              <a:buNone/>
            </a:pPr>
            <a:r>
              <a:rPr lang="en-US" sz="1200" b="1" dirty="0">
                <a:solidFill>
                  <a:srgbClr val="D6D3F0"/>
                </a:solidFill>
                <a:latin typeface="Arial" pitchFamily="34" charset="0"/>
                <a:ea typeface="Arial" pitchFamily="34" charset="-122"/>
                <a:cs typeface="Arial" pitchFamily="34" charset="-120"/>
              </a:rPr>
              <a:t>Success metric: </a:t>
            </a:r>
            <a:r>
              <a:rPr lang="en-US" sz="1200" b="0" dirty="0">
                <a:solidFill>
                  <a:srgbClr val="D6D3F0"/>
                </a:solidFill>
                <a:latin typeface="Arial" pitchFamily="34" charset="0"/>
                <a:ea typeface="Arial" pitchFamily="34" charset="-122"/>
                <a:cs typeface="Arial" pitchFamily="34" charset="-120"/>
              </a:rPr>
              <a:t>18 of 18 acceptance tests pass, and zero winners named on stale, single-market or missing-cost data</a:t>
            </a:r>
            <a:endParaRPr lang="en-US" sz="1200" dirty="0"/>
          </a:p>
        </p:txBody>
      </p:sp>
      <p:sp>
        <p:nvSpPr>
          <p:cNvPr id="13" name="Shape 8"/>
          <p:cNvSpPr/>
          <p:nvPr/>
        </p:nvSpPr>
        <p:spPr>
          <a:xfrm>
            <a:off x="6193300" y="1789227"/>
            <a:ext cx="5179582" cy="3977639"/>
          </a:xfrm>
          <a:prstGeom prst="roundRect">
            <a:avLst>
              <a:gd name="adj" fmla="val 8300"/>
            </a:avLst>
          </a:prstGeom>
          <a:solidFill>
            <a:srgbClr val="FFFDF9"/>
          </a:solidFill>
          <a:ln w="12700">
            <a:solidFill>
              <a:srgbClr val="E3E0F2"/>
            </a:solidFill>
            <a:prstDash val="solid"/>
          </a:ln>
        </p:spPr>
        <p:txBody>
          <a:bodyPr/>
          <a:lstStyle/>
          <a:p>
            <a:endParaRPr lang="en-IN"/>
          </a:p>
        </p:txBody>
      </p:sp>
      <p:sp>
        <p:nvSpPr>
          <p:cNvPr id="14" name="Text 9"/>
          <p:cNvSpPr/>
          <p:nvPr/>
        </p:nvSpPr>
        <p:spPr>
          <a:xfrm>
            <a:off x="6426067" y="2021994"/>
            <a:ext cx="4855469" cy="256497"/>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A3E05"/>
                </a:solidFill>
                <a:latin typeface="Arial" pitchFamily="34" charset="0"/>
                <a:ea typeface="Arial" pitchFamily="34" charset="-122"/>
                <a:cs typeface="Arial" pitchFamily="34" charset="-120"/>
              </a:rPr>
              <a:t>CUT ON PURPOSE</a:t>
            </a:r>
            <a:endParaRPr lang="en-US" sz="1300" dirty="0"/>
          </a:p>
        </p:txBody>
      </p:sp>
      <p:sp>
        <p:nvSpPr>
          <p:cNvPr id="15" name="Text 10"/>
          <p:cNvSpPr/>
          <p:nvPr/>
        </p:nvSpPr>
        <p:spPr>
          <a:xfrm>
            <a:off x="6426067" y="2395728"/>
            <a:ext cx="4855469" cy="868680"/>
          </a:xfrm>
          <a:prstGeom prst="rect">
            <a:avLst/>
          </a:prstGeom>
          <a:noFill/>
          <a:ln/>
        </p:spPr>
        <p:txBody>
          <a:bodyPr wrap="square" lIns="0" tIns="0" rIns="0" bIns="0" rtlCol="0" anchor="t">
            <a:normAutofit/>
          </a:bodyPr>
          <a:lstStyle/>
          <a:p>
            <a:pPr marL="0" indent="0" algn="l">
              <a:spcAft>
                <a:spcPts val="300"/>
              </a:spcAft>
              <a:buNone/>
            </a:pPr>
            <a:r>
              <a:rPr lang="en-US" sz="1300" b="1" dirty="0">
                <a:solidFill>
                  <a:srgbClr val="17154A"/>
                </a:solidFill>
                <a:latin typeface="Arial" pitchFamily="34" charset="0"/>
                <a:ea typeface="Arial" pitchFamily="34" charset="-122"/>
                <a:cs typeface="Arial" pitchFamily="34" charset="-120"/>
              </a:rPr>
              <a:t>Login / sign-up</a:t>
            </a:r>
            <a:endParaRPr lang="en-US" sz="1400" dirty="0"/>
          </a:p>
          <a:p>
            <a:pPr marL="0" indent="0" algn="l">
              <a:spcAft>
                <a:spcPts val="300"/>
              </a:spcAft>
              <a:buNone/>
            </a:pPr>
            <a:r>
              <a:rPr lang="en-US" sz="1300" b="0" dirty="0">
                <a:solidFill>
                  <a:srgbClr val="17154A"/>
                </a:solidFill>
                <a:latin typeface="Arial" pitchFamily="34" charset="0"/>
                <a:ea typeface="Arial" pitchFamily="34" charset="-122"/>
                <a:cs typeface="Arial" pitchFamily="34" charset="-120"/>
              </a:rPr>
              <a:t>Why: guest access, so there's no barrier to the core task</a:t>
            </a:r>
            <a:endParaRPr lang="en-US" sz="1400" dirty="0"/>
          </a:p>
        </p:txBody>
      </p:sp>
      <p:sp>
        <p:nvSpPr>
          <p:cNvPr id="16" name="Text 11"/>
          <p:cNvSpPr/>
          <p:nvPr/>
        </p:nvSpPr>
        <p:spPr>
          <a:xfrm>
            <a:off x="6426067" y="3355848"/>
            <a:ext cx="4855469" cy="868680"/>
          </a:xfrm>
          <a:prstGeom prst="rect">
            <a:avLst/>
          </a:prstGeom>
          <a:noFill/>
          <a:ln/>
        </p:spPr>
        <p:txBody>
          <a:bodyPr wrap="square" lIns="0" tIns="0" rIns="0" bIns="0" rtlCol="0" anchor="t">
            <a:normAutofit/>
          </a:bodyPr>
          <a:lstStyle/>
          <a:p>
            <a:pPr marL="0" indent="0" algn="l">
              <a:spcAft>
                <a:spcPts val="300"/>
              </a:spcAft>
              <a:buNone/>
            </a:pPr>
            <a:r>
              <a:rPr lang="en-US" sz="1300" b="1" dirty="0">
                <a:solidFill>
                  <a:srgbClr val="17154A"/>
                </a:solidFill>
                <a:latin typeface="Arial" pitchFamily="34" charset="0"/>
                <a:ea typeface="Arial" pitchFamily="34" charset="-122"/>
                <a:cs typeface="Arial" pitchFamily="34" charset="-120"/>
              </a:rPr>
              <a:t>Tamil interface</a:t>
            </a:r>
            <a:endParaRPr lang="en-US" sz="1400" dirty="0"/>
          </a:p>
          <a:p>
            <a:pPr marL="0" indent="0" algn="l">
              <a:spcAft>
                <a:spcPts val="300"/>
              </a:spcAft>
              <a:buNone/>
            </a:pPr>
            <a:r>
              <a:rPr lang="en-US" sz="1300" b="0" dirty="0">
                <a:solidFill>
                  <a:srgbClr val="17154A"/>
                </a:solidFill>
                <a:latin typeface="Arial" pitchFamily="34" charset="0"/>
                <a:ea typeface="Arial" pitchFamily="34" charset="-122"/>
                <a:cs typeface="Arial" pitchFamily="34" charset="-120"/>
              </a:rPr>
              <a:t>Why: a native speaker must review the wording first; strings are ready for it</a:t>
            </a:r>
            <a:endParaRPr lang="en-US" sz="1400" dirty="0"/>
          </a:p>
        </p:txBody>
      </p:sp>
      <p:sp>
        <p:nvSpPr>
          <p:cNvPr id="17" name="Text 12"/>
          <p:cNvSpPr/>
          <p:nvPr/>
        </p:nvSpPr>
        <p:spPr>
          <a:xfrm>
            <a:off x="6426067" y="4315968"/>
            <a:ext cx="4855469" cy="868680"/>
          </a:xfrm>
          <a:prstGeom prst="rect">
            <a:avLst/>
          </a:prstGeom>
          <a:noFill/>
          <a:ln/>
        </p:spPr>
        <p:txBody>
          <a:bodyPr wrap="square" lIns="0" tIns="0" rIns="0" bIns="0" rtlCol="0" anchor="t">
            <a:normAutofit/>
          </a:bodyPr>
          <a:lstStyle/>
          <a:p>
            <a:pPr marL="0" indent="0" algn="l">
              <a:spcAft>
                <a:spcPts val="300"/>
              </a:spcAft>
              <a:buNone/>
            </a:pPr>
            <a:r>
              <a:rPr lang="en-US" sz="1300" b="1" dirty="0">
                <a:solidFill>
                  <a:srgbClr val="17154A"/>
                </a:solidFill>
                <a:latin typeface="Arial" pitchFamily="34" charset="0"/>
                <a:ea typeface="Arial" pitchFamily="34" charset="-122"/>
                <a:cs typeface="Arial" pitchFamily="34" charset="-120"/>
              </a:rPr>
              <a:t>AI chatbot</a:t>
            </a:r>
            <a:endParaRPr lang="en-US" sz="1400" dirty="0"/>
          </a:p>
          <a:p>
            <a:pPr marL="0" indent="0" algn="l">
              <a:spcAft>
                <a:spcPts val="300"/>
              </a:spcAft>
              <a:buNone/>
            </a:pPr>
            <a:r>
              <a:rPr lang="en-US" sz="1300" b="0" dirty="0">
                <a:solidFill>
                  <a:srgbClr val="17154A"/>
                </a:solidFill>
                <a:latin typeface="Arial" pitchFamily="34" charset="0"/>
                <a:ea typeface="Arial" pitchFamily="34" charset="-122"/>
                <a:cs typeface="Arial" pitchFamily="34" charset="-120"/>
              </a:rPr>
              <a:t>Why: it could make up prices; every number comes from a formula you can check by hand</a:t>
            </a:r>
            <a:endParaRPr lang="en-US" sz="14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SmartAg Ops Advisor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54A"/>
        </a:solidFill>
        <a:effectLst/>
      </p:bgPr>
    </p:bg>
    <p:spTree>
      <p:nvGrpSpPr>
        <p:cNvPr id="1" name=""/>
        <p:cNvGrpSpPr/>
        <p:nvPr/>
      </p:nvGrpSpPr>
      <p:grpSpPr>
        <a:xfrm>
          <a:off x="0" y="0"/>
          <a:ext cx="0" cy="0"/>
          <a:chOff x="0" y="0"/>
          <a:chExt cx="0" cy="0"/>
        </a:xfrm>
      </p:grpSpPr>
      <p:sp>
        <p:nvSpPr>
          <p:cNvPr id="2" name="Text 0"/>
          <p:cNvSpPr/>
          <p:nvPr/>
        </p:nvSpPr>
        <p:spPr>
          <a:xfrm>
            <a:off x="812767" y="812766"/>
            <a:ext cx="738241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B066"/>
                </a:solidFill>
                <a:latin typeface="Arial" pitchFamily="34" charset="0"/>
                <a:ea typeface="Arial" pitchFamily="34" charset="-122"/>
                <a:cs typeface="Arial" pitchFamily="34" charset="-120"/>
              </a:rPr>
              <a:t>LIVE DEMO – 15 MIN</a:t>
            </a:r>
            <a:endParaRPr lang="en-US" sz="1200" dirty="0"/>
          </a:p>
        </p:txBody>
      </p:sp>
      <p:grpSp>
        <p:nvGrpSpPr>
          <p:cNvPr id="12" name="Group 11">
            <a:extLst>
              <a:ext uri="{FF2B5EF4-FFF2-40B4-BE49-F238E27FC236}">
                <a16:creationId xmlns:a16="http://schemas.microsoft.com/office/drawing/2014/main" id="{02CC949A-F025-BDE3-35E4-1AB388A675A6}"/>
              </a:ext>
            </a:extLst>
          </p:cNvPr>
          <p:cNvGrpSpPr/>
          <p:nvPr/>
        </p:nvGrpSpPr>
        <p:grpSpPr>
          <a:xfrm>
            <a:off x="726503" y="1482393"/>
            <a:ext cx="10566466" cy="508000"/>
            <a:chOff x="812767" y="4299396"/>
            <a:chExt cx="10566466" cy="508000"/>
          </a:xfrm>
        </p:grpSpPr>
        <p:sp>
          <p:nvSpPr>
            <p:cNvPr id="5" name="Shape 2"/>
            <p:cNvSpPr/>
            <p:nvPr/>
          </p:nvSpPr>
          <p:spPr>
            <a:xfrm>
              <a:off x="812767" y="4299396"/>
              <a:ext cx="10566466" cy="508000"/>
            </a:xfrm>
            <a:prstGeom prst="roundRect">
              <a:avLst>
                <a:gd name="adj" fmla="val 25000"/>
              </a:avLst>
            </a:prstGeom>
            <a:solidFill>
              <a:srgbClr val="F8821E"/>
            </a:solidFill>
            <a:ln/>
          </p:spPr>
          <p:txBody>
            <a:bodyPr/>
            <a:lstStyle/>
            <a:p>
              <a:endParaRPr lang="en-IN"/>
            </a:p>
          </p:txBody>
        </p:sp>
        <p:pic>
          <p:nvPicPr>
            <p:cNvPr id="6" name="Image 0" descr="Play"/>
            <p:cNvPicPr>
              <a:picLocks noChangeAspect="1"/>
            </p:cNvPicPr>
            <p:nvPr/>
          </p:nvPicPr>
          <p:blipFill>
            <a:blip r:embed="rId3"/>
            <a:srcRect/>
            <a:stretch/>
          </p:blipFill>
          <p:spPr>
            <a:xfrm>
              <a:off x="990534" y="4426396"/>
              <a:ext cx="254000" cy="254000"/>
            </a:xfrm>
            <a:prstGeom prst="rect">
              <a:avLst/>
            </a:prstGeom>
          </p:spPr>
        </p:pic>
        <p:sp>
          <p:nvSpPr>
            <p:cNvPr id="7" name="Text 3"/>
            <p:cNvSpPr/>
            <p:nvPr/>
          </p:nvSpPr>
          <p:spPr>
            <a:xfrm>
              <a:off x="1371534" y="4428958"/>
              <a:ext cx="9692640" cy="27427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154A"/>
                  </a:solidFill>
                  <a:latin typeface="Arial" pitchFamily="34" charset="0"/>
                  <a:ea typeface="Arial" pitchFamily="34" charset="-122"/>
                  <a:cs typeface="Arial" pitchFamily="34" charset="-120"/>
                </a:rPr>
                <a:t>Switch to the app now. Backup recording: SmartAg_demo_backup.mp4</a:t>
              </a:r>
              <a:endParaRPr lang="en-US" sz="1400" dirty="0"/>
            </a:p>
          </p:txBody>
        </p:sp>
      </p:grpSp>
      <p:sp>
        <p:nvSpPr>
          <p:cNvPr id="8"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A6D6"/>
                </a:solidFill>
                <a:latin typeface="Arial" pitchFamily="34" charset="0"/>
                <a:ea typeface="Arial" pitchFamily="34" charset="-122"/>
                <a:cs typeface="Arial" pitchFamily="34" charset="-120"/>
              </a:rPr>
              <a:t>SmartAg Ops Advisor · JJCET AI-PDLC Hackathon</a:t>
            </a:r>
            <a:endParaRPr lang="en-US" sz="1200" dirty="0"/>
          </a:p>
        </p:txBody>
      </p:sp>
      <p:sp>
        <p:nvSpPr>
          <p:cNvPr id="9"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A9A6D6"/>
                </a:solidFill>
                <a:latin typeface="Arial" pitchFamily="34" charset="0"/>
                <a:ea typeface="Arial" pitchFamily="34" charset="-122"/>
                <a:cs typeface="Arial" pitchFamily="34" charset="-120"/>
              </a:rPr>
              <a:t>5</a:t>
            </a:r>
            <a:endParaRPr lang="en-US" sz="1200" dirty="0"/>
          </a:p>
        </p:txBody>
      </p:sp>
      <p:sp>
        <p:nvSpPr>
          <p:cNvPr id="1001" name="Text 0"/>
          <p:cNvSpPr/>
          <p:nvPr/>
        </p:nvSpPr>
        <p:spPr>
          <a:xfrm>
            <a:off x="813816" y="2331720"/>
            <a:ext cx="10424160" cy="502920"/>
          </a:xfrm>
          <a:prstGeom prst="rect">
            <a:avLst/>
          </a:prstGeom>
          <a:noFill/>
          <a:ln/>
        </p:spPr>
        <p:txBody>
          <a:bodyPr wrap="square" lIns="0" tIns="0" rIns="0" bIns="0" rtlCol="0" anchor="t">
            <a:normAutofit/>
          </a:bodyPr>
          <a:lstStyle/>
          <a:p>
            <a:pPr marL="0" indent="0" algn="l">
              <a:buNone/>
            </a:pPr>
            <a:r>
              <a:rPr lang="en-US" sz="1400" b="1" kern="0" dirty="0">
                <a:solidFill>
                  <a:srgbClr val="FFB066"/>
                </a:solidFill>
                <a:latin typeface="Arial" pitchFamily="34" charset="0"/>
                <a:ea typeface="Arial" pitchFamily="34" charset="-122"/>
                <a:cs typeface="Arial" pitchFamily="34" charset="-120"/>
              </a:rPr>
              <a:t>1   Sample data badge   </a:t>
            </a:r>
            <a:r>
              <a:rPr lang="en-US" sz="1400" b="0" kern="0" dirty="0">
                <a:solidFill>
                  <a:srgbClr val="FFFFFF"/>
                </a:solidFill>
                <a:latin typeface="Arial" pitchFamily="34" charset="0"/>
                <a:ea typeface="Arial" pitchFamily="34" charset="-122"/>
                <a:cs typeface="Arial" pitchFamily="34" charset="-120"/>
              </a:rPr>
              <a:t>Point to “Sample data as of 25 Oct 2026” and say “sample” out loud</a:t>
            </a:r>
            <a:endParaRPr lang="en-US" sz="1200" dirty="0"/>
          </a:p>
        </p:txBody>
      </p:sp>
      <p:sp>
        <p:nvSpPr>
          <p:cNvPr id="1002" name="Text 0"/>
          <p:cNvSpPr/>
          <p:nvPr/>
        </p:nvSpPr>
        <p:spPr>
          <a:xfrm>
            <a:off x="813816" y="2898648"/>
            <a:ext cx="10424160" cy="502920"/>
          </a:xfrm>
          <a:prstGeom prst="rect">
            <a:avLst/>
          </a:prstGeom>
          <a:noFill/>
          <a:ln/>
        </p:spPr>
        <p:txBody>
          <a:bodyPr wrap="square" lIns="0" tIns="0" rIns="0" bIns="0" rtlCol="0" anchor="t">
            <a:normAutofit/>
          </a:bodyPr>
          <a:lstStyle/>
          <a:p>
            <a:pPr marL="0" indent="0" algn="l">
              <a:buNone/>
            </a:pPr>
            <a:r>
              <a:rPr lang="en-US" sz="1400" b="1" kern="0" dirty="0">
                <a:solidFill>
                  <a:srgbClr val="FFB066"/>
                </a:solidFill>
                <a:latin typeface="Arial" pitchFamily="34" charset="0"/>
                <a:ea typeface="Arial" pitchFamily="34" charset="-122"/>
                <a:cs typeface="Arial" pitchFamily="34" charset="-120"/>
              </a:rPr>
              <a:t>2   RANKED + Harvest Cover   </a:t>
            </a:r>
            <a:r>
              <a:rPr lang="en-US" sz="1400" b="0" kern="0" dirty="0">
                <a:solidFill>
                  <a:srgbClr val="FFFFFF"/>
                </a:solidFill>
                <a:latin typeface="Arial" pitchFamily="34" charset="0"/>
                <a:ea typeface="Arial" pitchFamily="34" charset="-122"/>
                <a:cs typeface="Arial" pitchFamily="34" charset="-120"/>
              </a:rPr>
              <a:t>Oddanchatram vs Palani, 700 kg: Palani first by Rs 300; Rs 4 vs Rs 10 left per crate</a:t>
            </a:r>
            <a:endParaRPr lang="en-US" sz="1200" dirty="0"/>
          </a:p>
        </p:txBody>
      </p:sp>
      <p:sp>
        <p:nvSpPr>
          <p:cNvPr id="1003" name="Text 0"/>
          <p:cNvSpPr/>
          <p:nvPr/>
        </p:nvSpPr>
        <p:spPr>
          <a:xfrm>
            <a:off x="813816" y="3465576"/>
            <a:ext cx="10424160" cy="502920"/>
          </a:xfrm>
          <a:prstGeom prst="rect">
            <a:avLst/>
          </a:prstGeom>
          <a:noFill/>
          <a:ln/>
        </p:spPr>
        <p:txBody>
          <a:bodyPr wrap="square" lIns="0" tIns="0" rIns="0" bIns="0" rtlCol="0" anchor="t">
            <a:normAutofit/>
          </a:bodyPr>
          <a:lstStyle/>
          <a:p>
            <a:pPr marL="0" indent="0" algn="l">
              <a:buNone/>
            </a:pPr>
            <a:r>
              <a:rPr lang="en-US" sz="1400" b="1" kern="0" dirty="0">
                <a:solidFill>
                  <a:srgbClr val="FFB066"/>
                </a:solidFill>
                <a:latin typeface="Arial" pitchFamily="34" charset="0"/>
                <a:ea typeface="Arial" pitchFamily="34" charset="-122"/>
                <a:cs typeface="Arial" pitchFamily="34" charset="-120"/>
              </a:rPr>
              <a:t>3   NEEDS_INPUT   </a:t>
            </a:r>
            <a:r>
              <a:rPr lang="en-US" sz="1400" b="0" kern="0" dirty="0">
                <a:solidFill>
                  <a:srgbClr val="FFFFFF"/>
                </a:solidFill>
                <a:latin typeface="Arial" pitchFamily="34" charset="0"/>
                <a:ea typeface="Arial" pitchFamily="34" charset="-122"/>
                <a:cs typeface="Arial" pitchFamily="34" charset="-120"/>
              </a:rPr>
              <a:t>Leave one trip cost blank: gross only, no winner, because a blank is never zero</a:t>
            </a:r>
            <a:endParaRPr lang="en-US" sz="1200" dirty="0"/>
          </a:p>
        </p:txBody>
      </p:sp>
      <p:sp>
        <p:nvSpPr>
          <p:cNvPr id="1004" name="Text 0"/>
          <p:cNvSpPr/>
          <p:nvPr/>
        </p:nvSpPr>
        <p:spPr>
          <a:xfrm>
            <a:off x="813816" y="4032504"/>
            <a:ext cx="10424160" cy="502920"/>
          </a:xfrm>
          <a:prstGeom prst="rect">
            <a:avLst/>
          </a:prstGeom>
          <a:noFill/>
          <a:ln/>
        </p:spPr>
        <p:txBody>
          <a:bodyPr wrap="square" lIns="0" tIns="0" rIns="0" bIns="0" rtlCol="0" anchor="t">
            <a:normAutofit/>
          </a:bodyPr>
          <a:lstStyle/>
          <a:p>
            <a:pPr marL="0" indent="0" algn="l">
              <a:buNone/>
            </a:pPr>
            <a:r>
              <a:rPr lang="en-US" sz="1400" b="1" kern="0" dirty="0">
                <a:solidFill>
                  <a:srgbClr val="FFB066"/>
                </a:solidFill>
                <a:latin typeface="Arial" pitchFamily="34" charset="0"/>
                <a:ea typeface="Arial" pitchFamily="34" charset="-122"/>
                <a:cs typeface="Arial" pitchFamily="34" charset="-120"/>
              </a:rPr>
              <a:t>4   Ranking unavailable   </a:t>
            </a:r>
            <a:r>
              <a:rPr lang="en-US" sz="1400" b="0" kern="0" dirty="0">
                <a:solidFill>
                  <a:srgbClr val="FFFFFF"/>
                </a:solidFill>
                <a:latin typeface="Arial" pitchFamily="34" charset="0"/>
                <a:ea typeface="Arial" pitchFamily="34" charset="-122"/>
                <a:cs typeface="Arial" pitchFamily="34" charset="-120"/>
              </a:rPr>
              <a:t>Oddanchatram vs Batlagundu: the stale price is excluded, no winner named</a:t>
            </a:r>
            <a:endParaRPr lang="en-US" sz="1200" dirty="0"/>
          </a:p>
        </p:txBody>
      </p:sp>
      <p:sp>
        <p:nvSpPr>
          <p:cNvPr id="1005" name="Text 0"/>
          <p:cNvSpPr/>
          <p:nvPr/>
        </p:nvSpPr>
        <p:spPr>
          <a:xfrm>
            <a:off x="813816" y="4599432"/>
            <a:ext cx="10424160" cy="502920"/>
          </a:xfrm>
          <a:prstGeom prst="rect">
            <a:avLst/>
          </a:prstGeom>
          <a:noFill/>
          <a:ln/>
        </p:spPr>
        <p:txBody>
          <a:bodyPr wrap="square" lIns="0" tIns="0" rIns="0" bIns="0" rtlCol="0" anchor="t">
            <a:normAutofit/>
          </a:bodyPr>
          <a:lstStyle/>
          <a:p>
            <a:pPr marL="0" indent="0" algn="l">
              <a:buNone/>
            </a:pPr>
            <a:r>
              <a:rPr lang="en-US" sz="1400" b="1" kern="0" dirty="0">
                <a:solidFill>
                  <a:srgbClr val="FFB066"/>
                </a:solidFill>
                <a:latin typeface="Arial" pitchFamily="34" charset="0"/>
                <a:ea typeface="Arial" pitchFamily="34" charset="-122"/>
                <a:cs typeface="Arial" pitchFamily="34" charset="-120"/>
              </a:rPr>
              <a:t>5   Not comparable   </a:t>
            </a:r>
            <a:r>
              <a:rPr lang="en-US" sz="1400" b="0" kern="0" dirty="0">
                <a:solidFill>
                  <a:srgbClr val="FFFFFF"/>
                </a:solidFill>
                <a:latin typeface="Arial" pitchFamily="34" charset="0"/>
                <a:ea typeface="Arial" pitchFamily="34" charset="-122"/>
                <a:cs typeface="Arial" pitchFamily="34" charset="-120"/>
              </a:rPr>
              <a:t>Add Dindigul Uzhavar Sandhai: not ranked with wholesale, reason shown</a:t>
            </a:r>
            <a:endParaRPr lang="en-US" sz="1200" dirty="0"/>
          </a:p>
        </p:txBody>
      </p:sp>
      <p:sp>
        <p:nvSpPr>
          <p:cNvPr id="1006" name="Text 0"/>
          <p:cNvSpPr/>
          <p:nvPr/>
        </p:nvSpPr>
        <p:spPr>
          <a:xfrm>
            <a:off x="813816" y="5166360"/>
            <a:ext cx="10424160" cy="502920"/>
          </a:xfrm>
          <a:prstGeom prst="rect">
            <a:avLst/>
          </a:prstGeom>
          <a:noFill/>
          <a:ln/>
        </p:spPr>
        <p:txBody>
          <a:bodyPr wrap="square" lIns="0" tIns="0" rIns="0" bIns="0" rtlCol="0" anchor="t">
            <a:normAutofit/>
          </a:bodyPr>
          <a:lstStyle/>
          <a:p>
            <a:pPr marL="0" indent="0" algn="l">
              <a:buNone/>
            </a:pPr>
            <a:r>
              <a:rPr lang="en-US" sz="1400" b="1" kern="0" dirty="0">
                <a:solidFill>
                  <a:srgbClr val="FFB066"/>
                </a:solidFill>
                <a:latin typeface="Arial" pitchFamily="34" charset="0"/>
                <a:ea typeface="Arial" pitchFamily="34" charset="-122"/>
                <a:cs typeface="Arial" pitchFamily="34" charset="-120"/>
              </a:rPr>
              <a:t>6   Source error (if time)   </a:t>
            </a:r>
            <a:r>
              <a:rPr lang="en-US" sz="1400" b="0" kern="0" dirty="0">
                <a:solidFill>
                  <a:srgbClr val="FFFFFF"/>
                </a:solidFill>
                <a:latin typeface="Arial" pitchFamily="34" charset="0"/>
                <a:ea typeface="Arial" pitchFamily="34" charset="-122"/>
                <a:cs typeface="Arial" pitchFamily="34" charset="-120"/>
              </a:rPr>
              <a:t>Database off: “Could not retrieve data”, not “no records”</a:t>
            </a:r>
            <a:endParaRPr lang="en-US" sz="1200" dirty="0"/>
          </a:p>
        </p:txBody>
      </p:sp>
      <p:sp>
        <p:nvSpPr>
          <p:cNvPr id="1007" name="Text 0"/>
          <p:cNvSpPr/>
          <p:nvPr/>
        </p:nvSpPr>
        <p:spPr>
          <a:xfrm>
            <a:off x="813816" y="5870448"/>
            <a:ext cx="10424160" cy="365760"/>
          </a:xfrm>
          <a:prstGeom prst="rect">
            <a:avLst/>
          </a:prstGeom>
          <a:noFill/>
          <a:ln/>
        </p:spPr>
        <p:txBody>
          <a:bodyPr wrap="square" lIns="0" tIns="0" rIns="0" bIns="0" rtlCol="0" anchor="t">
            <a:normAutofit/>
          </a:bodyPr>
          <a:lstStyle/>
          <a:p>
            <a:pPr marL="0" indent="0" algn="l">
              <a:buNone/>
            </a:pPr>
            <a:r>
              <a:rPr lang="en-US" sz="1300" b="0" i="1" kern="0" dirty="0">
                <a:solidFill>
                  <a:srgbClr val="FFB066"/>
                </a:solidFill>
                <a:latin typeface="Arial" pitchFamily="34" charset="0"/>
                <a:ea typeface="Arial" pitchFamily="34" charset="-122"/>
                <a:cs typeface="Arial" pitchFamily="34" charset="-120"/>
              </a:rPr>
              <a:t>Closing line: “The market with the highest price isn't always first. The app shows you why.”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itchFamily="34" charset="0"/>
                <a:ea typeface="Arial" pitchFamily="34" charset="-122"/>
                <a:cs typeface="Arial" pitchFamily="34" charset="-120"/>
              </a:rPr>
              <a:t>HOW WE USED AI</a:t>
            </a:r>
            <a:endParaRPr lang="en-US" sz="1200" dirty="0"/>
          </a:p>
        </p:txBody>
      </p:sp>
      <p:sp>
        <p:nvSpPr>
          <p:cNvPr id="3" name="Text 1"/>
          <p:cNvSpPr>
            <a:spLocks noGrp="1"/>
          </p:cNvSpPr>
          <p:nvPr>
            <p:ph type="title"/>
          </p:nvPr>
        </p:nvSpPr>
        <p:spPr>
          <a:xfrm>
            <a:off x="812767" y="1102237"/>
            <a:ext cx="10883460" cy="452041"/>
          </a:xfrm>
          <a:prstGeom prst="rect">
            <a:avLst/>
          </a:prstGeom>
          <a:noFill/>
          <a:ln/>
        </p:spPr>
        <p:txBody>
          <a:bodyPr wrap="square" lIns="0" tIns="0" rIns="0" bIns="0" rtlCol="0" anchor="t">
            <a:normAutofit/>
          </a:bodyPr>
          <a:lstStyle/>
          <a:p>
            <a:pPr marL="0" indent="0" algn="l">
              <a:lnSpc>
                <a:spcPts val="3360"/>
              </a:lnSpc>
              <a:buNone/>
            </a:pPr>
            <a:r>
              <a:rPr lang="en-US" sz="3200" b="1" i="0" dirty="0">
                <a:solidFill>
                  <a:srgbClr val="17154A"/>
                </a:solidFill>
                <a:latin typeface="Arial" pitchFamily="34" charset="0"/>
                <a:ea typeface="Arial" pitchFamily="34" charset="-122"/>
                <a:cs typeface="Arial" pitchFamily="34" charset="-120"/>
              </a:rPr>
              <a:t>What worked, what it got wrong, what we changed</a:t>
            </a:r>
            <a:endParaRPr lang="en-US" sz="3200" dirty="0"/>
          </a:p>
        </p:txBody>
      </p:sp>
      <p:sp>
        <p:nvSpPr>
          <p:cNvPr id="4" name="Shape 2"/>
          <p:cNvSpPr/>
          <p:nvPr/>
        </p:nvSpPr>
        <p:spPr>
          <a:xfrm>
            <a:off x="819117" y="1792224"/>
            <a:ext cx="3414894" cy="2926080"/>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5" name="Image 0" descr="ThumbsUp"/>
          <p:cNvPicPr>
            <a:picLocks noChangeAspect="1"/>
          </p:cNvPicPr>
          <p:nvPr/>
        </p:nvPicPr>
        <p:blipFill>
          <a:blip r:embed="rId3"/>
          <a:srcRect/>
          <a:stretch/>
        </p:blipFill>
        <p:spPr>
          <a:xfrm>
            <a:off x="1026501" y="1996610"/>
            <a:ext cx="254000" cy="254000"/>
          </a:xfrm>
          <a:prstGeom prst="rect">
            <a:avLst/>
          </a:prstGeom>
        </p:spPr>
      </p:pic>
      <p:sp>
        <p:nvSpPr>
          <p:cNvPr id="6" name="Text 3"/>
          <p:cNvSpPr/>
          <p:nvPr/>
        </p:nvSpPr>
        <p:spPr>
          <a:xfrm>
            <a:off x="1369384" y="2001655"/>
            <a:ext cx="228957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Prompt that worked</a:t>
            </a:r>
            <a:endParaRPr lang="en-US" sz="1600" dirty="0"/>
          </a:p>
        </p:txBody>
      </p:sp>
      <p:sp>
        <p:nvSpPr>
          <p:cNvPr id="7" name="Text 4"/>
          <p:cNvSpPr/>
          <p:nvPr/>
        </p:nvSpPr>
        <p:spPr>
          <a:xfrm>
            <a:off x="1026501" y="2339494"/>
            <a:ext cx="3090131" cy="2331720"/>
          </a:xfrm>
          <a:prstGeom prst="rect">
            <a:avLst/>
          </a:prstGeom>
          <a:noFill/>
          <a:ln/>
        </p:spPr>
        <p:txBody>
          <a:bodyPr wrap="square" lIns="0" tIns="0" rIns="0" bIns="0" rtlCol="0" anchor="t">
            <a:normAutofit/>
          </a:bodyPr>
          <a:lstStyle/>
          <a:p>
            <a:pPr marL="0" indent="0" algn="l">
              <a:spcAft>
                <a:spcPts val="800"/>
              </a:spcAft>
              <a:buNone/>
            </a:pPr>
            <a:r>
              <a:rPr lang="en-US" sz="1300" dirty="0">
                <a:solidFill>
                  <a:srgbClr val="3B3A5A"/>
                </a:solidFill>
                <a:latin typeface="Arial" pitchFamily="34" charset="0"/>
                <a:ea typeface="Arial" pitchFamily="34" charset="-122"/>
                <a:cs typeface="Arial" pitchFamily="34" charset="-120"/>
              </a:rPr>
              <a:t>“Review this PRD as a strict examiner. List the 5 weakest points.”</a:t>
            </a:r>
            <a:endParaRPr lang="en-US" sz="1300" dirty="0"/>
          </a:p>
          <a:p>
            <a:pPr marL="0" indent="0" algn="l">
              <a:spcAft>
                <a:spcPts val="800"/>
              </a:spcAft>
              <a:buNone/>
            </a:pPr>
            <a:r>
              <a:rPr lang="en-US" sz="1300" dirty="0">
                <a:solidFill>
                  <a:srgbClr val="3B3A5A"/>
                </a:solidFill>
                <a:latin typeface="Arial" pitchFamily="34" charset="0"/>
                <a:ea typeface="Arial" pitchFamily="34" charset="-122"/>
                <a:cs typeface="Arial" pitchFamily="34" charset="-120"/>
              </a:rPr>
              <a:t>It led us to cut 16 Musts down to 3 Must-Haves and add the blank-cost and tie-band rules.</a:t>
            </a:r>
            <a:endParaRPr lang="en-US" sz="1300" dirty="0"/>
          </a:p>
        </p:txBody>
      </p:sp>
      <p:sp>
        <p:nvSpPr>
          <p:cNvPr id="8" name="Text 5"/>
          <p:cNvSpPr/>
          <p:nvPr/>
        </p:nvSpPr>
        <p:spPr>
          <a:xfrm>
            <a:off x="1026501" y="4114800"/>
            <a:ext cx="3090131" cy="457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Tool / skill: Claude + grill-me (edit to match your AI log)</a:t>
            </a:r>
            <a:endParaRPr lang="en-US" sz="1200" dirty="0"/>
          </a:p>
        </p:txBody>
      </p:sp>
      <p:sp>
        <p:nvSpPr>
          <p:cNvPr id="9" name="Shape 6"/>
          <p:cNvSpPr/>
          <p:nvPr/>
        </p:nvSpPr>
        <p:spPr>
          <a:xfrm>
            <a:off x="4399095" y="1792224"/>
            <a:ext cx="3414977" cy="2926080"/>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10" name="Image 1" descr="Warning"/>
          <p:cNvPicPr>
            <a:picLocks noChangeAspect="1"/>
          </p:cNvPicPr>
          <p:nvPr/>
        </p:nvPicPr>
        <p:blipFill>
          <a:blip r:embed="rId4"/>
          <a:srcRect/>
          <a:stretch/>
        </p:blipFill>
        <p:spPr>
          <a:xfrm>
            <a:off x="4606479" y="1996610"/>
            <a:ext cx="254000" cy="254000"/>
          </a:xfrm>
          <a:prstGeom prst="rect">
            <a:avLst/>
          </a:prstGeom>
        </p:spPr>
      </p:pic>
      <p:sp>
        <p:nvSpPr>
          <p:cNvPr id="11" name="Text 7"/>
          <p:cNvSpPr/>
          <p:nvPr/>
        </p:nvSpPr>
        <p:spPr>
          <a:xfrm>
            <a:off x="4949362" y="2001655"/>
            <a:ext cx="214451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54A"/>
                </a:solidFill>
                <a:latin typeface="Arial" pitchFamily="34" charset="0"/>
                <a:ea typeface="Arial" pitchFamily="34" charset="-122"/>
                <a:cs typeface="Arial" pitchFamily="34" charset="-120"/>
              </a:rPr>
              <a:t>What AI got wrong</a:t>
            </a:r>
            <a:endParaRPr lang="en-US" sz="1600" dirty="0"/>
          </a:p>
        </p:txBody>
      </p:sp>
      <p:sp>
        <p:nvSpPr>
          <p:cNvPr id="12" name="Text 8"/>
          <p:cNvSpPr/>
          <p:nvPr/>
        </p:nvSpPr>
        <p:spPr>
          <a:xfrm>
            <a:off x="4606479" y="2339494"/>
            <a:ext cx="3090216" cy="1737360"/>
          </a:xfrm>
          <a:prstGeom prst="rect">
            <a:avLst/>
          </a:prstGeom>
          <a:noFill/>
          <a:ln/>
        </p:spPr>
        <p:txBody>
          <a:bodyPr wrap="square" lIns="0" tIns="0" rIns="0" bIns="0" rtlCol="0" anchor="t">
            <a:normAutofit/>
          </a:bodyPr>
          <a:lstStyle/>
          <a:p>
            <a:pPr marL="0" indent="0" algn="l">
              <a:buNone/>
            </a:pPr>
            <a:r>
              <a:rPr lang="en-US" sz="1300" dirty="0">
                <a:solidFill>
                  <a:srgbClr val="3B3A5A"/>
                </a:solidFill>
                <a:latin typeface="Arial" pitchFamily="34" charset="0"/>
                <a:ea typeface="Arial" pitchFamily="34" charset="-122"/>
                <a:cs typeface="Arial" pitchFamily="34" charset="-120"/>
              </a:rPr>
              <a:t>The AI-built app added features we never planned: login, truck booking, an AI chat, hidden cost defaults and a made-up 35 km/h travel time.</a:t>
            </a:r>
            <a:endParaRPr lang="en-US" sz="1300" dirty="0"/>
          </a:p>
        </p:txBody>
      </p:sp>
      <p:sp>
        <p:nvSpPr>
          <p:cNvPr id="13" name="Text 9"/>
          <p:cNvSpPr/>
          <p:nvPr/>
        </p:nvSpPr>
        <p:spPr>
          <a:xfrm>
            <a:off x="4606479" y="3520440"/>
            <a:ext cx="3090216" cy="10972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How we caught it: a traceability check of every screen against the PRD, and the Day-1 data audit that showed the live API data didn't exist</a:t>
            </a:r>
            <a:endParaRPr lang="en-US" sz="1200" dirty="0"/>
          </a:p>
        </p:txBody>
      </p:sp>
      <p:sp>
        <p:nvSpPr>
          <p:cNvPr id="14" name="Shape 10"/>
          <p:cNvSpPr/>
          <p:nvPr/>
        </p:nvSpPr>
        <p:spPr>
          <a:xfrm>
            <a:off x="7972805" y="1792224"/>
            <a:ext cx="3406428" cy="2926080"/>
          </a:xfrm>
          <a:prstGeom prst="roundRect">
            <a:avLst>
              <a:gd name="adj" fmla="val 9930"/>
            </a:avLst>
          </a:prstGeom>
          <a:solidFill>
            <a:srgbClr val="312F92"/>
          </a:solidFill>
          <a:ln/>
        </p:spPr>
        <p:txBody>
          <a:bodyPr/>
          <a:lstStyle/>
          <a:p>
            <a:endParaRPr lang="en-IN"/>
          </a:p>
        </p:txBody>
      </p:sp>
      <p:pic>
        <p:nvPicPr>
          <p:cNvPr id="15" name="Image 2" descr="Wrench"/>
          <p:cNvPicPr>
            <a:picLocks noChangeAspect="1"/>
          </p:cNvPicPr>
          <p:nvPr/>
        </p:nvPicPr>
        <p:blipFill>
          <a:blip r:embed="rId5"/>
          <a:srcRect/>
          <a:stretch/>
        </p:blipFill>
        <p:spPr>
          <a:xfrm>
            <a:off x="8175955" y="1986028"/>
            <a:ext cx="254000" cy="254000"/>
          </a:xfrm>
          <a:prstGeom prst="rect">
            <a:avLst/>
          </a:prstGeom>
        </p:spPr>
      </p:pic>
      <p:sp>
        <p:nvSpPr>
          <p:cNvPr id="16" name="Text 11"/>
          <p:cNvSpPr/>
          <p:nvPr/>
        </p:nvSpPr>
        <p:spPr>
          <a:xfrm>
            <a:off x="8518839" y="1991072"/>
            <a:ext cx="20593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BF8F2"/>
                </a:solidFill>
                <a:latin typeface="Arial" pitchFamily="34" charset="0"/>
                <a:ea typeface="Arial" pitchFamily="34" charset="-122"/>
                <a:cs typeface="Arial" pitchFamily="34" charset="-120"/>
              </a:rPr>
              <a:t>What we changed</a:t>
            </a:r>
            <a:endParaRPr lang="en-US" sz="1600" dirty="0"/>
          </a:p>
        </p:txBody>
      </p:sp>
      <p:sp>
        <p:nvSpPr>
          <p:cNvPr id="17" name="Text 12"/>
          <p:cNvSpPr/>
          <p:nvPr/>
        </p:nvSpPr>
        <p:spPr>
          <a:xfrm>
            <a:off x="8175955" y="2328912"/>
            <a:ext cx="3090131" cy="2194560"/>
          </a:xfrm>
          <a:prstGeom prst="rect">
            <a:avLst/>
          </a:prstGeom>
          <a:noFill/>
          <a:ln/>
        </p:spPr>
        <p:txBody>
          <a:bodyPr wrap="square" lIns="0" tIns="0" rIns="0" bIns="0" rtlCol="0" anchor="t">
            <a:normAutofit/>
          </a:bodyPr>
          <a:lstStyle/>
          <a:p>
            <a:pPr marL="0" indent="0" algn="l">
              <a:spcAft>
                <a:spcPts val="800"/>
              </a:spcAft>
              <a:buNone/>
            </a:pPr>
            <a:r>
              <a:rPr lang="en-US" sz="1300" dirty="0">
                <a:solidFill>
                  <a:srgbClr val="E1DFF5"/>
                </a:solidFill>
                <a:latin typeface="Arial" pitchFamily="34" charset="0"/>
                <a:ea typeface="Arial" pitchFamily="34" charset="-122"/>
                <a:cs typeface="Arial" pitchFamily="34" charset="-120"/>
              </a:rPr>
              <a:t>We demo only the comparison flow, removed the hidden defaults, and use labelled sample data.</a:t>
            </a:r>
            <a:endParaRPr lang="en-US" sz="1300" dirty="0"/>
          </a:p>
          <a:p>
            <a:pPr marL="0" indent="0" algn="l">
              <a:spcAft>
                <a:spcPts val="800"/>
              </a:spcAft>
              <a:buNone/>
            </a:pPr>
            <a:r>
              <a:rPr lang="en-US" sz="1300" dirty="0">
                <a:solidFill>
                  <a:srgbClr val="E1DFF5"/>
                </a:solidFill>
                <a:latin typeface="Arial" pitchFamily="34" charset="0"/>
                <a:ea typeface="Arial" pitchFamily="34" charset="-122"/>
                <a:cs typeface="Arial" pitchFamily="34" charset="-120"/>
              </a:rPr>
              <a:t>Next time: one story per prompt, and run the data audit before writing the PRD.</a:t>
            </a:r>
            <a:endParaRPr lang="en-US" sz="1300" dirty="0"/>
          </a:p>
        </p:txBody>
      </p:sp>
      <p:sp>
        <p:nvSpPr>
          <p:cNvPr id="18"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6888"/>
                </a:solidFill>
                <a:latin typeface="Arial" pitchFamily="34" charset="0"/>
                <a:ea typeface="Arial" pitchFamily="34" charset="-122"/>
                <a:cs typeface="Arial" pitchFamily="34" charset="-120"/>
              </a:rPr>
              <a:t>SmartAg Ops Advisor · JJCET AI-PDLC Hackathon</a:t>
            </a:r>
            <a:endParaRPr lang="en-US" sz="1200" dirty="0"/>
          </a:p>
        </p:txBody>
      </p:sp>
      <p:sp>
        <p:nvSpPr>
          <p:cNvPr id="19"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6888"/>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JJCET Hackathon Team Demo Template">
  <a:themeElements>
    <a:clrScheme name="JJCET Hackathon Team Demo Template">
      <a:dk1>
        <a:srgbClr val="17154A"/>
      </a:dk1>
      <a:lt1>
        <a:srgbClr val="FBF8F2"/>
      </a:lt1>
      <a:dk2>
        <a:srgbClr val="504E74"/>
      </a:dk2>
      <a:lt2>
        <a:srgbClr val="E4E1E1"/>
      </a:lt2>
      <a:accent1>
        <a:srgbClr val="F8821E"/>
      </a:accent1>
      <a:accent2>
        <a:srgbClr val="FFB066"/>
      </a:accent2>
      <a:accent3>
        <a:srgbClr val="312F92"/>
      </a:accent3>
      <a:accent4>
        <a:srgbClr val="8A3E05"/>
      </a:accent4>
      <a:accent5>
        <a:srgbClr val="B4550A"/>
      </a:accent5>
      <a:accent6>
        <a:srgbClr val="A9A6D6"/>
      </a:accent6>
      <a:hlink>
        <a:srgbClr val="0563C1"/>
      </a:hlink>
      <a:folHlink>
        <a:srgbClr val="954F72"/>
      </a:folHlink>
    </a:clrScheme>
    <a:fontScheme name="JJCET Hackathon Team Demo Templ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1211</Words>
  <Application>Microsoft Office PowerPoint</Application>
  <PresentationFormat>Widescreen</PresentationFormat>
  <Paragraphs>94</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JJCET Hackathon Team Demo Template</vt:lpstr>
      <vt:lpstr>SmartAg Ops Advisor</vt:lpstr>
      <vt:lpstr>Farmers can't tell which market pays after costs</vt:lpstr>
      <vt:lpstr>“The farmer's real question isn't ‘which market pays most?’ but ‘will any market cover the cost of picking this batch?’”</vt:lpstr>
      <vt:lpstr>What we built, and what we cut</vt:lpstr>
      <vt:lpstr>PowerPoint Presentation</vt:lpstr>
      <vt:lpstr>What worked, what it got wrong, what we changed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JJCET Hackathon Team Demo Template</dc:title>
  <dc:subject/>
  <dc:creator/>
  <cp:lastModifiedBy>Harissh chathriya</cp:lastModifiedBy>
  <cp:revision>3</cp:revision>
  <dcterms:created xsi:type="dcterms:W3CDTF">2026-10-21T16:29:27Z</dcterms:created>
  <dcterms:modified xsi:type="dcterms:W3CDTF">2026-10-25T03:35:45Z</dcterms:modified>
</cp:coreProperties>
</file>